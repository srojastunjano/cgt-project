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14600"/>
            <a:ext cx="109728" cy="201168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514600"/>
            <a:ext cx="12079224" cy="20116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430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D6E4F3"/>
                </a:solidFill>
              </a:rPr>
              <a:t>COMP34612  Computational Game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1143000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Adaptive Stackelberg Pricing
with Recursive Least Squares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430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 i="0">
                <a:solidFill>
                  <a:srgbClr val="D6E4F3"/>
                </a:solidFill>
              </a:rPr>
              <a:t>Group 7  ·  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0" y="128016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134416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Explore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0" y="192024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198424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Learn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56032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0" y="2624327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Optimise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41280" y="320040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26440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Adapt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Repeated Stackelberg pricing game with unknown, time-varying follower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03520" cy="53492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03520" cy="384048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02920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Game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Leader sets price u_L first; follower observes then responds with u_F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04288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100 days of historical data available (days 1–100)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71216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30 live trading days (days 101–130)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438144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Follower strategy unknown and time-varying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005072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 known followers: MK1, MK2, MK3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572000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 hidden followers: MK4, MK5, MK6 (slightly changed parameters)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989320" cy="53492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234440"/>
            <a:ext cx="59893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1261872"/>
            <a:ext cx="57607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Leader Specifications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1737360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764792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Unit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737360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64792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c_L  =  £1.00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395728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423160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Demand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395728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23160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S_L  =  100 − 5·u_L + 3·u_F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054096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3912" y="3081527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Daily profit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3054096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081527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π  =  (u_L − 1) · S_L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3712463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3739896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Objective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712463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739896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Maximise accumulated profit over 30 days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370831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398264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Strategy (MK1/2)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370831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398264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u_L  ∈  [1, +∞)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5029199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3912" y="5056631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Strategy (MK3)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0" y="5029199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5056631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u_L  ∈  [1, 15]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Code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Shared _RLSMixin base class holds all Lecture 6 RLS logic; each leader specialises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LeaderMK1(Leader, _RLSMixin)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MK1 &amp; MK4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0.88  |  P = 1000·I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explore = {101: 5.0, 102: 20.0}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load full history, seed theta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from last 20 observed u_F values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61688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1416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LeaderMK2(Leader, _RLSMixin)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1688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MK2 &amp; MK5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79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0.92  |  batch OLS warm-start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79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explore = {101: 12.0, 102: 20.0}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79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load days 51-100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call _batch_init_rls()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8775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7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94776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94776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LeaderMK3(Leader, _RLSMixin)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94776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04503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MK3 &amp; MK6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7928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59367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0.95  |  force a = 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7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explore = {101:10, 102:11, 103:13}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7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9367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load days 71-100, init b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59367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Overrides _record_and_update()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1864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32136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" y="4992624"/>
            <a:ext cx="11750040" cy="1627632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" y="4992624"/>
            <a:ext cx="11750040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010912"/>
            <a:ext cx="114300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_RLSMixin   (Lecture 6 RLS — inherited by all three leaders)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394960"/>
            <a:ext cx="224028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79" y="5440680"/>
            <a:ext cx="2057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_init_rls()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79" y="5797296"/>
            <a:ext cx="205740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Initialise theta=[b,a],
P=1000·I, store lambda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4620" y="5394960"/>
            <a:ext cx="224028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66060" y="5440680"/>
            <a:ext cx="2057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_rls_update()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66060" y="5797296"/>
            <a:ext cx="205740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Kalman gain K,
update P and theta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0" y="5394960"/>
            <a:ext cx="224028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20640" y="5440680"/>
            <a:ext cx="2057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_optimal_price()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0" y="5797296"/>
            <a:ext cx="205740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Stackelberg formula
u_L* = (B-A)/(2B)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83779" y="5394960"/>
            <a:ext cx="224028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75219" y="5440680"/>
            <a:ext cx="2057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_record_and_update()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75219" y="5797296"/>
            <a:ext cx="205740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Observe u_F from engine,
run one RLS step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38359" y="5394960"/>
            <a:ext cx="224028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9799" y="5440680"/>
            <a:ext cx="2057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_batch_init_rls()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9799" y="5797296"/>
            <a:ext cx="205740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OLS warm-start:
fit theta &amp; P from history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Analysis: Follower Behaviour Over 100 Historical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Three distinct personalities — and three very different modelling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432"/>
            <a:ext cx="5394960" cy="3327800"/>
          </a:xfrm>
          <a:prstGeom prst="rect">
            <a:avLst/>
          </a:prstGeom>
        </p:spPr>
      </p:pic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70432"/>
            <a:ext cx="6080760" cy="1928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5833872"/>
            <a:ext cx="5394960" cy="7772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897880"/>
            <a:ext cx="5166360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All followers have u_L ∈ [1.715, 1.900] historically (a 0.185-unit band). Slope estimates from this narrow range cannot be extrapolated to prices 5-50.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5833872"/>
            <a:ext cx="6080760" cy="7772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5897880"/>
            <a:ext cx="5852160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MK1: reliable slope ~0.87.   MK2: slope flips sign between halves.   MK3: R²=0.038, slope is indistinguishable from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Finding: MK2 Regime Flip at Day 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Days 1-50 are actively misleading: the follower's strategy changed mid-history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432"/>
            <a:ext cx="9144000" cy="3271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8600" y="5687568"/>
            <a:ext cx="11750040" cy="91440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7607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Finding: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5760720"/>
            <a:ext cx="1033272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Days 1–50 show slope ≈ −19 (outlier-driven, entirely misleading). Days 51–100 show a stable slope ≈ +0.79. Solution: load only days 51–100 into LeaderMK2's history and initialise RLS with batch OLS on this clean window. This is the regime detection step that unlocks MK2 performance.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Lectures 2–3: Stackelberg Optimal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Analytical derivation: plugging the fitted reaction function into the profit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572000" cy="544068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572000" cy="3657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3891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Derivation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6420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Assume linear reaction function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5681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u_F  =  a · u_L  +  b        →        θ = [b, a]ᵀ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Substitute into demand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7004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8833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S_L  =  (100 + 3b) + (3a − 5) · u_L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2724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Write leader profit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0156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1985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π_L  =  (u_L − 1) · S_L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5876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Maximise over u_L  (dπ/du_L = 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3308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5137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u_L*  =  (B − A) / (2B)   when B &lt;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Where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6460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88289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A = 100 + 3b     B = 3a − 5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321807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Boundary case  (B ≥ 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59612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1441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u_L* = max_price or min_price</a:t>
            </a:r>
          </a:p>
        </p:txBody>
      </p:sp>
      <p:pic>
        <p:nvPicPr>
          <p:cNvPr id="28" name="Picture 27" descr="profi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70432"/>
            <a:ext cx="7040880" cy="22325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Lecture 6: Recursive Least Squares (RLS)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O(1) online update: principled handling of time-varying follower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5669280" cy="36576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394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D6E4F3"/>
                </a:solidFill>
              </a:rPr>
              <a:t>RLS Update Equations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19072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64792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φ  =  [1,  u_L]ᵀ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810512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feature vector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  =  P·φ / (λ + φᵀ·P·φ)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77440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Kalman gain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52928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98648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  =  (P − K·φᵀ·P) / 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944368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covariance update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9856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65576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θ  =  θ + K·(u_F − φᵀ·θ)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511296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parameter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041648"/>
            <a:ext cx="539496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E4F3"/>
                </a:solidFill>
              </a:rPr>
              <a:t>θ = [b, a]ᵀ   is the reaction function  u_F = a·u_L + b
λ ∈ (0,1)  is the forgetting factor (older observations discounted)
P  is the 2×2 covariance (uncertainty)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4846320"/>
            <a:ext cx="5669280" cy="178308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910328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EWLS (old) vs RLS (new)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85232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312664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Computational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5285232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5312664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O(n): refits all history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85232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5312664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O(1): one step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596128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623560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Time-varying params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94560" y="5596128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5623560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Partial (decay helps)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7639" y="5596128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623560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Explicit via 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907024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5934456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Online update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94560" y="5907024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6000" y="5934456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Full re-fit each 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7639" y="5907024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9080" y="5934456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True recursive update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6217920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245352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Lecture alignment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94560" y="6217920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0" y="6245352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Lecture 4 (batch WLS)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7639" y="6217920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9080" y="6245352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Lecture 6 ✓</a:t>
            </a:r>
          </a:p>
        </p:txBody>
      </p:sp>
      <p:pic>
        <p:nvPicPr>
          <p:cNvPr id="48" name="Picture 47" descr="rls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70432"/>
            <a:ext cx="5897880" cy="20020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LeaderMK1: vs MK1 &amp; MK4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Escaping the narrow history trap with fast forgetting and targeted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205740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Narrow history band meant slope unreliable at live prices (see data slide)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First RLS attempt used 7-day exploration including price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06039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Price 38 collapsed demand to S_L = 4 — profit only 148/day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337560"/>
            <a:ext cx="4846320" cy="214884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3337560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55848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6732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λ = 0.88: live data dominates within ~10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2452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Large P = 1000·I: exploration data overrides prior immediately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8172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2 exploration days [5, 20]: wide spread, cheaply learns slope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28 greedy days: converges to u_L* ≈ 19.9 from day 103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5486400"/>
            <a:ext cx="4846320" cy="1261872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96128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87044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28,367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8251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+215 vs EWLS baseline</a:t>
            </a:r>
          </a:p>
        </p:txBody>
      </p:sp>
      <p:pic>
        <p:nvPicPr>
          <p:cNvPr id="24" name="Picture 23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1310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Live convergence: 2 exploration points [5, 20] anchor slope estimate. Greedy price stabilises at u_L ≈ 19 from day 103.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LeaderMK2: vs MK2 &amp; MK5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Regime detection + warm-start reduces required exploration from 5 days to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201168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Using all 100 history days poisoned the estimate (regime flip at day 50)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5-day exploration wasted 3 days at low prices: price 2 earns ~100/day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9689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vs ~1050/day in greedy phase; 3 wasted days costs ~+2,850 profit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291840"/>
            <a:ext cx="4846320" cy="219456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3291840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10128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12463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Discard days 1-50: load only clean days 51-100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87952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Batch OLS warm-start: P already small, model is confident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63440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Reduced to 2 exploration days [12, 20]: earns 813 and 1016/day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7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3 extra greedy days at ~1050/day: +3,150 profit gained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5486400"/>
            <a:ext cx="4846320" cy="1261872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96128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87044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31,575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8251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+2,409 vs EWLS baseline</a:t>
            </a:r>
          </a:p>
        </p:txBody>
      </p:sp>
      <p:pic>
        <p:nvPicPr>
          <p:cNvPr id="24" name="Picture 23" descr="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4047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Regime plot justifies discarding days 1–50. Warm-start from clean history means only 2 exploration days are needed before greedy.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LeaderMK3: vs MK3 &amp; MK6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Constant follower model + scalar RLS: near-ceiling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201168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Fitting a slope to noise (R²=0.038) adds error, not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Live b shifted 2x from history: b ≈ 2.73 vs historical ≈ 1.34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96896"/>
            <a:ext cx="4572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Old exploration at price 3 earned only 186/day vs ~530 near optimum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291840"/>
            <a:ext cx="4846320" cy="219456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3291840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10128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12463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Force a = 0: constant follower model, u_F ≈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87952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Scalar 1-D RLS tracks only the intercept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63440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Optimal price: u_L* = (105 + 3b) / 10, adapts every day automatically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7"/>
            <a:ext cx="4572000" cy="5212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Exploration [10,11,13] near live optimum: earns ~530/day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5486400"/>
            <a:ext cx="4846320" cy="1261872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96128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870448"/>
            <a:ext cx="4572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15,990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8251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+498 vs EWLS, above theoretical max</a:t>
            </a:r>
          </a:p>
        </p:txBody>
      </p:sp>
      <p:pic>
        <p:nvPicPr>
          <p:cNvPr id="24" name="Picture 23" descr="mk3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406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Left: slope fit vs constant model on MK3 scatter. Right: profit curves, constant model with live b=2.73 gives true optimal at u_L* approx 11.3.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Journey: Iterative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Every change was motivated by data analysis and diagnosed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22860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" y="1188720"/>
            <a:ext cx="21945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170432"/>
            <a:ext cx="34747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87752" y="1188720"/>
            <a:ext cx="3383279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Key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170432"/>
            <a:ext cx="13716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1188720"/>
            <a:ext cx="12801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170432"/>
            <a:ext cx="13716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188720"/>
            <a:ext cx="12801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1170432"/>
            <a:ext cx="14173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5672" y="1188720"/>
            <a:ext cx="132588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9840" y="1170432"/>
            <a:ext cx="150876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2992" y="1188720"/>
            <a:ext cx="1417319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1554480"/>
            <a:ext cx="22860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664207"/>
            <a:ext cx="21488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Baseline (EWLS)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1554480"/>
            <a:ext cx="34747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06040" y="1664207"/>
            <a:ext cx="33375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Original implementation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54480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59" y="1664207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28,152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1554480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664207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29,166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32520" y="1554480"/>
            <a:ext cx="14173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1664207"/>
            <a:ext cx="12801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15,492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49840" y="1554480"/>
            <a:ext cx="150876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1664207"/>
            <a:ext cx="137160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72,810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2514600"/>
            <a:ext cx="228600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624328"/>
            <a:ext cx="21488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RLS Phase 1 (Lecture 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2514600"/>
            <a:ext cx="347472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06040" y="2624328"/>
            <a:ext cx="33375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EWLS replaced with RLS + forgetting factor lambda. MK1: [5,15,20], MK2: [2,6,12,20,32]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2514600"/>
            <a:ext cx="137160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59" y="262432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26,298*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2514600"/>
            <a:ext cx="137160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62432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514600"/>
            <a:ext cx="141732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2624328"/>
            <a:ext cx="12801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15,516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0" y="2514600"/>
            <a:ext cx="1508760" cy="960120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2624328"/>
            <a:ext cx="137160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71,607*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3474720"/>
            <a:ext cx="22860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3584448"/>
            <a:ext cx="21488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MK1 exploration fix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14600" y="3474720"/>
            <a:ext cx="34747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06040" y="3584448"/>
            <a:ext cx="33375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7-day exploration caused demand collapse at price 38. Reduced to 2 days [5, 20]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474720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0759" y="358444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28,367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20" y="3474720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358444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32520" y="3474720"/>
            <a:ext cx="14173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584448"/>
            <a:ext cx="12801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15,516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3474720"/>
            <a:ext cx="150876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0" y="3584448"/>
            <a:ext cx="137160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73,676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4434840"/>
            <a:ext cx="228600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544568"/>
            <a:ext cx="21488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MK3 exploration prices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14600" y="4434840"/>
            <a:ext cx="347472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06040" y="4544568"/>
            <a:ext cx="33375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Changed [3,6,10] to [10,11,13]. Explore near live optimum (u_L* approx 11.3)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4434840"/>
            <a:ext cx="137160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59" y="454456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28,367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60920" y="4434840"/>
            <a:ext cx="137160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52360" y="454456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32520" y="4434840"/>
            <a:ext cx="141732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544568"/>
            <a:ext cx="12801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15,990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4434840"/>
            <a:ext cx="1508760" cy="9601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41280" y="4544568"/>
            <a:ext cx="137160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74,150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8600" y="5394959"/>
            <a:ext cx="22860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504688"/>
            <a:ext cx="21488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MK2 exploration reduced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14600" y="5394959"/>
            <a:ext cx="34747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6040" y="5504688"/>
            <a:ext cx="33375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5 days reduced to 2 days [12,20]. OLS warm-start gives confident prior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89320" y="5394959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80759" y="550468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28,367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60920" y="5394959"/>
            <a:ext cx="137160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52360" y="5504688"/>
            <a:ext cx="123444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31,575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32520" y="5394959"/>
            <a:ext cx="141732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23960" y="5504688"/>
            <a:ext cx="128016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15,990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9840" y="5394959"/>
            <a:ext cx="1508760" cy="960120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41280" y="5504688"/>
            <a:ext cx="1371600" cy="7955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75,932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8600" y="6409943"/>
            <a:ext cx="118872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* MK1 Phase 1 was worse due to 7-day exploration at extreme prices (including 38) causing demand collapse.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143000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Final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43000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D6E4F3"/>
                </a:solidFill>
              </a:rPr>
              <a:t>Accumulated profit over 30 live days (101–130)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28,152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28,367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+215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8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29,166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31,575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8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+2,409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74736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5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6416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15,492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16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15,990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7615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5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+498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572000"/>
            <a:ext cx="11640312" cy="1188720"/>
          </a:xfrm>
          <a:prstGeom prst="rect">
            <a:avLst/>
          </a:prstGeom>
          <a:solidFill>
            <a:srgbClr val="14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572000"/>
            <a:ext cx="109728" cy="11887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681728"/>
            <a:ext cx="22860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D6E4F3"/>
                </a:solidFill>
              </a:rPr>
              <a:t>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663440"/>
            <a:ext cx="59436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72,810   →   75,932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63440"/>
            <a:ext cx="30175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800" b="1" i="0">
                <a:solidFill>
                  <a:srgbClr val="D6E4F3"/>
                </a:solidFill>
              </a:rPr>
              <a:t>+3,122  profit  (+4.3%)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230368"/>
            <a:ext cx="11430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8A97A8"/>
                </a:solidFill>
              </a:rPr>
              <a:t>MK3 (15,990) exceeded the static theoretical maximum (~15,970): scalar RLS tracks real-time fluctuations in b that a static model cannot.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Course Content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Every design decision maps directly to a lecture (Lectures 2 through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146304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88720"/>
            <a:ext cx="132588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170432"/>
            <a:ext cx="292608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188720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170432"/>
            <a:ext cx="73152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1188720"/>
            <a:ext cx="717804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How We Used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146304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45920"/>
            <a:ext cx="132588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C353F"/>
                </a:solidFill>
              </a:rPr>
              <a:t>Lec 2–3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1554480"/>
            <a:ext cx="292608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1645920"/>
            <a:ext cx="278892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Stackelberg optimal price derivation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1554480"/>
            <a:ext cx="731520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1645920"/>
            <a:ext cx="717804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Derived u_L* = (B−A)/(2B) analytically. Used in _optimal_price() every greedy 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450591"/>
            <a:ext cx="146304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542032"/>
            <a:ext cx="132588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C353F"/>
                </a:solidFill>
              </a:rPr>
              <a:t>Lec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2450591"/>
            <a:ext cx="292608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2542032"/>
            <a:ext cx="278892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Learn reaction function from historical data (WLS)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2450591"/>
            <a:ext cx="731520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59" y="2542032"/>
            <a:ext cx="717804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Loaded historical data in start_simulation(). Batch OLS warm-start for MK2 (_batch_init_rls()).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346703"/>
            <a:ext cx="146304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438144"/>
            <a:ext cx="132588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C353F"/>
                </a:solidFill>
              </a:rPr>
              <a:t>Lec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3346703"/>
            <a:ext cx="292608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83080" y="3438144"/>
            <a:ext cx="278892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Multi-variable linear regression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3346703"/>
            <a:ext cx="731520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59" y="3438144"/>
            <a:ext cx="717804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φ = [1, u_L]ᵀ feature vector. θ = [b, a]ᵀ parameter vector for u_F = a·u_L + b.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4242816"/>
            <a:ext cx="146304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334255"/>
            <a:ext cx="132588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C353F"/>
                </a:solidFill>
              </a:rPr>
              <a:t>Lec 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91640" y="4242816"/>
            <a:ext cx="292608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83080" y="4334255"/>
            <a:ext cx="278892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RLS with forgetting factor λ for time-varying parameters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17720" y="4242816"/>
            <a:ext cx="7315200" cy="87782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59" y="4334255"/>
            <a:ext cx="717804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Complete _RLSMixin with Kalman gain K, covariance P. _rls_update() called every day.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5138927"/>
            <a:ext cx="146304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230367"/>
            <a:ext cx="132588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C353F"/>
                </a:solidFill>
              </a:rPr>
              <a:t>Lec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91640" y="5138927"/>
            <a:ext cx="292608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83080" y="5230367"/>
            <a:ext cx="278892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Online learning: update as new data arrives each day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5138927"/>
            <a:ext cx="7315200" cy="877824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9159" y="5230367"/>
            <a:ext cx="7178040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_record_and_update(date−1) called at start of every new_price(). True online adaptation.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 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What the data, failures and iterative refinement taught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234440"/>
            <a:ext cx="594360" cy="12984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645920"/>
            <a:ext cx="59436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D6E4F3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234440"/>
            <a:ext cx="11155680" cy="1298448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25880"/>
            <a:ext cx="1088136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2D4A"/>
                </a:solidFill>
              </a:rPr>
              <a:t>Data quality matters more than quantity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64792"/>
            <a:ext cx="1088136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0">
                <a:solidFill>
                  <a:srgbClr val="2C353F"/>
                </a:solidFill>
              </a:rPr>
              <a:t>100 days of data in [1.715, 1.900] gave a wrong slope when extrapolated. Two strategically chosen live prices taught us more than all 100 history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606040"/>
            <a:ext cx="594360" cy="12984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3017520"/>
            <a:ext cx="59436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D6E4F3"/>
                </a:solidFill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11155680" cy="1298448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97480"/>
            <a:ext cx="1088136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2D4A"/>
                </a:solidFill>
              </a:rPr>
              <a:t>Exploration price selection is critical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136392"/>
            <a:ext cx="1088136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0">
                <a:solidFill>
                  <a:srgbClr val="2C353F"/>
                </a:solidFill>
              </a:rPr>
              <a:t>Exploring at price 38 collapsed demand to 4 units (profit 148/day). Exploring near the expected optimum earns near-optimal profit while still informing the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977639"/>
            <a:ext cx="594360" cy="12984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389120"/>
            <a:ext cx="59436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D6E4F3"/>
                </a:solidFill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977639"/>
            <a:ext cx="11155680" cy="1298448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069079"/>
            <a:ext cx="1088136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2D4A"/>
                </a:solidFill>
              </a:rPr>
              <a:t>Match model complexity to the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507992"/>
            <a:ext cx="1088136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0">
                <a:solidFill>
                  <a:srgbClr val="2C353F"/>
                </a:solidFill>
              </a:rPr>
              <a:t>Fitting a slope to MK3 (R²=0.038) adds noise, not information. The constant model (a=0) is provably better and achieves near-theoretical-maximum performance.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349240"/>
            <a:ext cx="594360" cy="12984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5760720"/>
            <a:ext cx="59436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D6E4F3"/>
                </a:solidFill>
              </a:rP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349240"/>
            <a:ext cx="11155680" cy="1298448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40679"/>
            <a:ext cx="1088136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2D4A"/>
                </a:solidFill>
              </a:rPr>
              <a:t>A confident warm-start changes the exploration trade-off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879592"/>
            <a:ext cx="1088136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0">
                <a:solidFill>
                  <a:srgbClr val="2C353F"/>
                </a:solidFill>
              </a:rPr>
              <a:t>For MK2, batch OLS from clean history gives precise θ before any live data. This reduced exploration from 5 days to 2, saving ~+1,800 profit.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