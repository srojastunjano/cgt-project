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14600"/>
            <a:ext cx="109728" cy="2011680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" y="2514600"/>
            <a:ext cx="12079224" cy="201168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43000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D6E4F3"/>
                </a:solidFill>
              </a:rPr>
              <a:t>COMP34612  Computational Game Theory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1143000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Adaptive Stackelberg Pricing
with Recursive Least Squares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63440"/>
            <a:ext cx="11430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0" i="0">
                <a:solidFill>
                  <a:srgbClr val="D6E4F3"/>
                </a:solidFill>
              </a:rPr>
              <a:t>Group 7  ·  May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0" y="1280160"/>
            <a:ext cx="1645920" cy="502920"/>
          </a:xfrm>
          <a:prstGeom prst="rect">
            <a:avLst/>
          </a:prstGeom>
          <a:solidFill>
            <a:srgbClr val="1A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0" y="1344168"/>
            <a:ext cx="164592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300" b="0" i="0">
                <a:solidFill>
                  <a:srgbClr val="D6E4F3"/>
                </a:solidFill>
              </a:rPr>
              <a:t>Explore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241280" y="1920240"/>
            <a:ext cx="1645920" cy="502920"/>
          </a:xfrm>
          <a:prstGeom prst="rect">
            <a:avLst/>
          </a:prstGeom>
          <a:solidFill>
            <a:srgbClr val="1A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0" y="1984248"/>
            <a:ext cx="164592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300" b="0" i="0">
                <a:solidFill>
                  <a:srgbClr val="D6E4F3"/>
                </a:solidFill>
              </a:rPr>
              <a:t>Learn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0" y="2560320"/>
            <a:ext cx="1645920" cy="502920"/>
          </a:xfrm>
          <a:prstGeom prst="rect">
            <a:avLst/>
          </a:prstGeom>
          <a:solidFill>
            <a:srgbClr val="1A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0" y="2624327"/>
            <a:ext cx="164592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300" b="0" i="0">
                <a:solidFill>
                  <a:srgbClr val="D6E4F3"/>
                </a:solidFill>
              </a:rPr>
              <a:t>Optimise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241280" y="3200400"/>
            <a:ext cx="1645920" cy="502920"/>
          </a:xfrm>
          <a:prstGeom prst="rect">
            <a:avLst/>
          </a:prstGeom>
          <a:solidFill>
            <a:srgbClr val="1A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0" y="3264408"/>
            <a:ext cx="164592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300" b="0" i="0">
                <a:solidFill>
                  <a:srgbClr val="D6E4F3"/>
                </a:solidFill>
              </a:rPr>
              <a:t>Adapt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Repeated Stackelberg pricing game with unknown, time-varying follower strategies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303520" cy="5349240"/>
          </a:xfrm>
          <a:prstGeom prst="rect">
            <a:avLst/>
          </a:prstGeom>
          <a:solidFill>
            <a:srgbClr val="F4F6F9"/>
          </a:solidFill>
          <a:ln w="1016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5303520" cy="384048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61872"/>
            <a:ext cx="502920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Game 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37360"/>
            <a:ext cx="5074920" cy="6126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2C353F"/>
                </a:solidFill>
              </a:rPr>
              <a:t>Leader sets price u_L first; follower observes then responds with u_F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304288"/>
            <a:ext cx="5074920" cy="6126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2C353F"/>
                </a:solidFill>
              </a:rPr>
              <a:t>100 days of historical data available (days 1–100)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71216"/>
            <a:ext cx="5074920" cy="6126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2C353F"/>
                </a:solidFill>
              </a:rPr>
              <a:t>30 live trading days (days 101–130)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438144"/>
            <a:ext cx="5074920" cy="6126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2C353F"/>
                </a:solidFill>
              </a:rPr>
              <a:t>Follower strategy unknown and time-varying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005072"/>
            <a:ext cx="5074920" cy="6126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2C353F"/>
                </a:solidFill>
              </a:rPr>
              <a:t>3 known followers: MK1, MK2, MK3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572000"/>
            <a:ext cx="5074920" cy="6126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2C353F"/>
                </a:solidFill>
              </a:rPr>
              <a:t>3 hidden followers: MK4, MK5, MK6 (slightly changed parameters)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1234440"/>
            <a:ext cx="5989320" cy="5349240"/>
          </a:xfrm>
          <a:prstGeom prst="rect">
            <a:avLst/>
          </a:prstGeom>
          <a:solidFill>
            <a:srgbClr val="F4F6F9"/>
          </a:solidFill>
          <a:ln w="1016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234440"/>
            <a:ext cx="5989320" cy="3840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80760" y="1261872"/>
            <a:ext cx="57607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Leader Specifications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1737360"/>
            <a:ext cx="2011680" cy="329184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53912" y="1764792"/>
            <a:ext cx="192024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2D4A"/>
                </a:solidFill>
              </a:rPr>
              <a:t>Unit cost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1737360"/>
            <a:ext cx="3611880" cy="329184"/>
          </a:xfrm>
          <a:prstGeom prst="rect">
            <a:avLst/>
          </a:prstGeom>
          <a:solidFill>
            <a:srgbClr val="F4F6F9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764792"/>
            <a:ext cx="347472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c_L  =  £1.00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2395728"/>
            <a:ext cx="2011680" cy="329184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2423160"/>
            <a:ext cx="192024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2D4A"/>
                </a:solidFill>
              </a:rPr>
              <a:t>Demand 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2395728"/>
            <a:ext cx="3611880" cy="329184"/>
          </a:xfrm>
          <a:prstGeom prst="rect">
            <a:avLst/>
          </a:prstGeom>
          <a:solidFill>
            <a:srgbClr val="F4F6F9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2423160"/>
            <a:ext cx="347472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S_L  =  100 − 5·u_L + 3·u_F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3054096"/>
            <a:ext cx="2011680" cy="329184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3912" y="3081527"/>
            <a:ext cx="192024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2D4A"/>
                </a:solidFill>
              </a:rPr>
              <a:t>Daily profit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3054096"/>
            <a:ext cx="3611880" cy="329184"/>
          </a:xfrm>
          <a:prstGeom prst="rect">
            <a:avLst/>
          </a:prstGeom>
          <a:solidFill>
            <a:srgbClr val="F4F6F9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3081527"/>
            <a:ext cx="347472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π  =  (u_L − 1) · S_L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0760" y="3712463"/>
            <a:ext cx="2011680" cy="329184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53912" y="3739896"/>
            <a:ext cx="192024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2D4A"/>
                </a:solidFill>
              </a:rPr>
              <a:t>Objective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3712463"/>
            <a:ext cx="3611880" cy="329184"/>
          </a:xfrm>
          <a:prstGeom prst="rect">
            <a:avLst/>
          </a:prstGeom>
          <a:solidFill>
            <a:srgbClr val="F4F6F9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0" y="3739896"/>
            <a:ext cx="347472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Maximise accumulated profit over 30 days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4370831"/>
            <a:ext cx="2011680" cy="329184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53912" y="4398264"/>
            <a:ext cx="192024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2D4A"/>
                </a:solidFill>
              </a:rPr>
              <a:t>Strategy (MK1/2)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60" y="4370831"/>
            <a:ext cx="3611880" cy="329184"/>
          </a:xfrm>
          <a:prstGeom prst="rect">
            <a:avLst/>
          </a:prstGeom>
          <a:solidFill>
            <a:srgbClr val="F4F6F9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4398264"/>
            <a:ext cx="347472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u_L  ∈  [1, +∞)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5029199"/>
            <a:ext cx="2011680" cy="329184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53912" y="5056631"/>
            <a:ext cx="192024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2D4A"/>
                </a:solidFill>
              </a:rPr>
              <a:t>Strategy (MK3)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38160" y="5029199"/>
            <a:ext cx="3611880" cy="329184"/>
          </a:xfrm>
          <a:prstGeom prst="rect">
            <a:avLst/>
          </a:prstGeom>
          <a:solidFill>
            <a:srgbClr val="F4F6F9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5056631"/>
            <a:ext cx="3474720" cy="28346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u_L  ∈  [1, 15]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" y="6510528"/>
            <a:ext cx="11704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1">
                <a:solidFill>
                  <a:srgbClr val="556B82"/>
                </a:solidFill>
              </a:rPr>
              <a:t>von Stackelberg, H. (1934). Marktform und Gleichgewicht. Julius Springer.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Data Analysis: Three 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Systematic analysis of 100-day historical data revealed three distinct modelling challenges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70432"/>
            <a:ext cx="5852160" cy="1855643"/>
          </a:xfrm>
          <a:prstGeom prst="rect">
            <a:avLst/>
          </a:prstGeom>
        </p:spPr>
      </p:pic>
      <p:pic>
        <p:nvPicPr>
          <p:cNvPr id="8" name="Picture 7" descr="reg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70432"/>
            <a:ext cx="5715000" cy="204481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28600" y="3383280"/>
            <a:ext cx="3840480" cy="3246120"/>
          </a:xfrm>
          <a:prstGeom prst="rect">
            <a:avLst/>
          </a:prstGeom>
          <a:solidFill>
            <a:srgbClr val="F4F6F9"/>
          </a:solidFill>
          <a:ln w="19050">
            <a:solidFill>
              <a:srgbClr val="A8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3383280"/>
            <a:ext cx="3840480" cy="347472"/>
          </a:xfrm>
          <a:prstGeom prst="rect">
            <a:avLst/>
          </a:prstGeom>
          <a:solidFill>
            <a:srgbClr val="A8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" y="3410712"/>
            <a:ext cx="36118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Finding 1 — Narrow History Band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3813048"/>
            <a:ext cx="361188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All followers: u_L ∈ [1.715, 1.900] (0.185-unit band). OLS slope from this range cannot extrapolate to live prices u_L ∈ [10–20]. Root cause of original EWLS underperformance.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33672" y="3383280"/>
            <a:ext cx="3840480" cy="3246120"/>
          </a:xfrm>
          <a:prstGeom prst="rect">
            <a:avLst/>
          </a:prstGeom>
          <a:solidFill>
            <a:srgbClr val="F4F6F9"/>
          </a:solidFill>
          <a:ln w="19050">
            <a:solidFill>
              <a:srgbClr val="A8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33672" y="3383280"/>
            <a:ext cx="3840480" cy="347472"/>
          </a:xfrm>
          <a:prstGeom prst="rect">
            <a:avLst/>
          </a:prstGeom>
          <a:solidFill>
            <a:srgbClr val="A8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3410712"/>
            <a:ext cx="36118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Finding 2 — MK2 Day-36 Contamination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3813048"/>
            <a:ext cx="361188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u_F = 51.8 (z-score ≫ 3σ) on day 36; every other day ∈ [1.5, 3.2]. This single outlier drives days 1–50 OLS slope to −19. Solution: detect and discard contaminated window; warm-start from days 51–100.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38744" y="3383280"/>
            <a:ext cx="3840480" cy="3246120"/>
          </a:xfrm>
          <a:prstGeom prst="rect">
            <a:avLst/>
          </a:prstGeom>
          <a:solidFill>
            <a:srgbClr val="F4F6F9"/>
          </a:solidFill>
          <a:ln w="19050">
            <a:solidFill>
              <a:srgbClr val="B5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38744" y="3383280"/>
            <a:ext cx="3840480" cy="347472"/>
          </a:xfrm>
          <a:prstGeom prst="rect">
            <a:avLst/>
          </a:prstGeom>
          <a:solidFill>
            <a:srgbClr val="B5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8471" y="3410712"/>
            <a:ext cx="36118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Finding 3 — MK3 Slope R² = 0.038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1" y="3813048"/>
            <a:ext cx="361188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MK3 slope is statistically indistinguishable from zero (p &gt; 0.05). Fitting a slope adds noise, not information. Constant model (a = 0, learn only b) is the statistically correct choice.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Lectures 2–3: Stackelberg Optimal Price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Analytical derivation: plugging the fitted reaction function into the profit formula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170432"/>
            <a:ext cx="4572000" cy="5440680"/>
          </a:xfrm>
          <a:prstGeom prst="rect">
            <a:avLst/>
          </a:prstGeom>
          <a:solidFill>
            <a:srgbClr val="F4F6F9"/>
          </a:solidFill>
          <a:ln w="1016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170432"/>
            <a:ext cx="4572000" cy="3657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88720"/>
            <a:ext cx="438912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Derivation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64208"/>
            <a:ext cx="4297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556B82"/>
                </a:solidFill>
              </a:rPr>
              <a:t>Assume linear reaction function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938528"/>
            <a:ext cx="4297680" cy="32004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956816"/>
            <a:ext cx="4114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2D4A"/>
                </a:solidFill>
              </a:rPr>
              <a:t>u_F  =  a · u_L  +  b        →        θ = [b, a]ᵀ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395728"/>
            <a:ext cx="4297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556B82"/>
                </a:solidFill>
              </a:rPr>
              <a:t>Substitute into demand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70048"/>
            <a:ext cx="4297680" cy="32004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688336"/>
            <a:ext cx="4114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2D4A"/>
                </a:solidFill>
              </a:rPr>
              <a:t>S_L  =  (100 + 3b) + (3a − 5) · u_L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127248"/>
            <a:ext cx="4297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556B82"/>
                </a:solidFill>
              </a:rPr>
              <a:t>Write leader profit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401568"/>
            <a:ext cx="4297680" cy="32004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419856"/>
            <a:ext cx="4114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2D4A"/>
                </a:solidFill>
              </a:rPr>
              <a:t>π_L  =  (u_L − 1) · S_L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858768"/>
            <a:ext cx="4297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556B82"/>
                </a:solidFill>
              </a:rPr>
              <a:t>Maximise over u_L  (dπ/du_L = 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133087"/>
            <a:ext cx="4297680" cy="32004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151376"/>
            <a:ext cx="4114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2D4A"/>
                </a:solidFill>
              </a:rPr>
              <a:t>u_L*  =  (B − A) / (2B)   when B &lt;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590288"/>
            <a:ext cx="4297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556B82"/>
                </a:solidFill>
              </a:rPr>
              <a:t>Where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864607"/>
            <a:ext cx="4297680" cy="32004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882896"/>
            <a:ext cx="4114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2D4A"/>
                </a:solidFill>
              </a:rPr>
              <a:t>A = 100 + 3b     B = 3a − 5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5321807"/>
            <a:ext cx="4297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556B82"/>
                </a:solidFill>
              </a:rPr>
              <a:t>Boundary case  (B ≥ 0)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596127"/>
            <a:ext cx="4297680" cy="32004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614416"/>
            <a:ext cx="4114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2D4A"/>
                </a:solidFill>
              </a:rPr>
              <a:t>u_L* = max_price or min_price</a:t>
            </a:r>
          </a:p>
        </p:txBody>
      </p:sp>
      <p:pic>
        <p:nvPicPr>
          <p:cNvPr id="28" name="Picture 27" descr="profi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70432"/>
            <a:ext cx="7040880" cy="2233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28600" y="6510528"/>
            <a:ext cx="11704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1">
                <a:solidFill>
                  <a:srgbClr val="556B82"/>
                </a:solidFill>
              </a:rPr>
              <a:t>Fudenberg, D. &amp; Tirole, J. (1991). Game Theory. MIT Press.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Lecture 6: Recursive Least Squares (RLS)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O(1) online update with forgetting factor λ — principled handling of time-varying parameters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170432"/>
            <a:ext cx="5669280" cy="365760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34440"/>
            <a:ext cx="53949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D6E4F3"/>
                </a:solidFill>
              </a:rPr>
              <a:t>RLS Update Equations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19072"/>
            <a:ext cx="5394960" cy="438912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64792"/>
            <a:ext cx="34747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φ  =  [1,  u_L]ᵀ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1810512"/>
            <a:ext cx="16916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1">
                <a:solidFill>
                  <a:srgbClr val="D6E4F3"/>
                </a:solidFill>
              </a:rPr>
              <a:t>← feature vector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86000"/>
            <a:ext cx="5394960" cy="438912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331720"/>
            <a:ext cx="34747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  =  P·φ / (λ + φᵀ·P·φ)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377440"/>
            <a:ext cx="16916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1">
                <a:solidFill>
                  <a:srgbClr val="D6E4F3"/>
                </a:solidFill>
              </a:rPr>
              <a:t>← Kalman gain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852928"/>
            <a:ext cx="5394960" cy="438912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98648"/>
            <a:ext cx="34747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  =  (P − K·φᵀ·P) / 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2944368"/>
            <a:ext cx="16916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1">
                <a:solidFill>
                  <a:srgbClr val="D6E4F3"/>
                </a:solidFill>
              </a:rPr>
              <a:t>← covariance update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419856"/>
            <a:ext cx="5394960" cy="438912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65576"/>
            <a:ext cx="34747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θ  =  θ + K·(u_F − φᵀ·θ)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3511296"/>
            <a:ext cx="16916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1">
                <a:solidFill>
                  <a:srgbClr val="D6E4F3"/>
                </a:solidFill>
              </a:rPr>
              <a:t>← parameter update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041648"/>
            <a:ext cx="539496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D6E4F3"/>
                </a:solidFill>
              </a:rPr>
              <a:t>θ = [b, a]ᵀ   is the reaction function  u_F = a·u_L + b
λ ∈ (0,1)  is the forgetting factor (older observations discounted)
P  is the 2×2 covariance (uncertainty) matrix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4846320"/>
            <a:ext cx="5669280" cy="1783080"/>
          </a:xfrm>
          <a:prstGeom prst="rect">
            <a:avLst/>
          </a:prstGeom>
          <a:solidFill>
            <a:srgbClr val="F4F6F9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910328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2D4A"/>
                </a:solidFill>
              </a:rPr>
              <a:t>EWLS (old) vs RLS (new)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5285232"/>
            <a:ext cx="1828800" cy="27432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5312664"/>
            <a:ext cx="173736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2D4A"/>
                </a:solidFill>
              </a:rPr>
              <a:t>Computational cost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94560" y="5285232"/>
            <a:ext cx="1737360" cy="274320"/>
          </a:xfrm>
          <a:prstGeom prst="rect">
            <a:avLst/>
          </a:prstGeom>
          <a:solidFill>
            <a:srgbClr val="FC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86000" y="5312664"/>
            <a:ext cx="164592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A82B2B"/>
                </a:solidFill>
              </a:rPr>
              <a:t>O(n): refits all history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7639" y="5285232"/>
            <a:ext cx="1737360" cy="2743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69080" y="5312664"/>
            <a:ext cx="164592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A7A4A"/>
                </a:solidFill>
              </a:rPr>
              <a:t>O(1): one step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596128"/>
            <a:ext cx="1828800" cy="27432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5623560"/>
            <a:ext cx="173736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2D4A"/>
                </a:solidFill>
              </a:rPr>
              <a:t>Time-varying params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94560" y="5596128"/>
            <a:ext cx="1737360" cy="274320"/>
          </a:xfrm>
          <a:prstGeom prst="rect">
            <a:avLst/>
          </a:prstGeom>
          <a:solidFill>
            <a:srgbClr val="FC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86000" y="5623560"/>
            <a:ext cx="164592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A82B2B"/>
                </a:solidFill>
              </a:rPr>
              <a:t>Partial (decay helps)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77639" y="5596128"/>
            <a:ext cx="1737360" cy="2743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9080" y="5623560"/>
            <a:ext cx="164592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A7A4A"/>
                </a:solidFill>
              </a:rPr>
              <a:t>Explicit via λ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5907024"/>
            <a:ext cx="1828800" cy="27432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5934456"/>
            <a:ext cx="173736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2D4A"/>
                </a:solidFill>
              </a:rPr>
              <a:t>Online update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94560" y="5907024"/>
            <a:ext cx="1737360" cy="274320"/>
          </a:xfrm>
          <a:prstGeom prst="rect">
            <a:avLst/>
          </a:prstGeom>
          <a:solidFill>
            <a:srgbClr val="FC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286000" y="5934456"/>
            <a:ext cx="164592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A82B2B"/>
                </a:solidFill>
              </a:rPr>
              <a:t>Full re-fit each day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7639" y="5907024"/>
            <a:ext cx="1737360" cy="2743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69080" y="5934456"/>
            <a:ext cx="164592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A7A4A"/>
                </a:solidFill>
              </a:rPr>
              <a:t>True recursive update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6217920"/>
            <a:ext cx="1828800" cy="27432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245352"/>
            <a:ext cx="173736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2D4A"/>
                </a:solidFill>
              </a:rPr>
              <a:t>Lecture alignment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194560" y="6217920"/>
            <a:ext cx="1737360" cy="274320"/>
          </a:xfrm>
          <a:prstGeom prst="rect">
            <a:avLst/>
          </a:prstGeom>
          <a:solidFill>
            <a:srgbClr val="FC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86000" y="6245352"/>
            <a:ext cx="164592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A82B2B"/>
                </a:solidFill>
              </a:rPr>
              <a:t>Lecture 4 (batch WLS)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77639" y="6217920"/>
            <a:ext cx="1737360" cy="2743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69080" y="6245352"/>
            <a:ext cx="164592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A7A4A"/>
                </a:solidFill>
              </a:rPr>
              <a:t>Lecture 6 ✓</a:t>
            </a:r>
          </a:p>
        </p:txBody>
      </p:sp>
      <p:pic>
        <p:nvPicPr>
          <p:cNvPr id="48" name="Picture 47" descr="rls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70432"/>
            <a:ext cx="5897880" cy="200203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RLS Online Parameter Tracking — Historical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Visual evidence supporting every design choice: fast forgetting, contamination, zero-slope prior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ls_tr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70432"/>
            <a:ext cx="11750040" cy="497433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28600" y="6236208"/>
            <a:ext cx="11750040" cy="502920"/>
          </a:xfrm>
          <a:prstGeom prst="rect">
            <a:avLst/>
          </a:prstGeom>
          <a:solidFill>
            <a:srgbClr val="F4F6F9"/>
          </a:solidFill>
          <a:ln w="635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272784"/>
            <a:ext cx="11475720" cy="20573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2C353F"/>
                </a:solidFill>
              </a:rPr>
              <a:t>MK1 (row 1): slope drifts 0.7→1.9 over 100 days — directly justifies λ=0.88 so live data rapidly dominates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32804"/>
            <a:ext cx="11475720" cy="20573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2C353F"/>
                </a:solidFill>
              </a:rPr>
              <a:t>MK2 (row 2): day-36 spike visibly corrupts both b and a — validates discarding days 1–50 before warm-starting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592824"/>
            <a:ext cx="11475720" cy="20573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2C353F"/>
                </a:solidFill>
              </a:rPr>
              <a:t>MK3 (row 3): slope stays pinned near 0 via strong prior P[1,1]=0.01; intercept b converges cleanly within ~5 steps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Code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Shared _RLSMixin base class holds all Lecture 6 RLS logic; each leader specialises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170432"/>
            <a:ext cx="3749039" cy="3520440"/>
          </a:xfrm>
          <a:prstGeom prst="rect">
            <a:avLst/>
          </a:prstGeom>
          <a:solidFill>
            <a:srgbClr val="F4F6F9"/>
          </a:solidFill>
          <a:ln w="1016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170432"/>
            <a:ext cx="3749039" cy="347472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" y="1188720"/>
            <a:ext cx="356616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class LeaderMK1(Leader, _RLSMixin)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517904"/>
            <a:ext cx="3749039" cy="219456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" y="1536192"/>
            <a:ext cx="356616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1">
                <a:solidFill>
                  <a:srgbClr val="D6E4F3"/>
                </a:solidFill>
              </a:rPr>
              <a:t>vs MK1 &amp; MK4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" y="1755648"/>
            <a:ext cx="3602736" cy="28620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" y="1810512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2D4A"/>
                </a:solidFill>
              </a:rPr>
              <a:t>lam = 0.88  |  P = 1000·I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" y="2304288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2D4A"/>
                </a:solidFill>
              </a:rPr>
              <a:t>Single explore [19.0]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2798064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556B82"/>
                </a:solidFill>
              </a:rPr>
              <a:t>  fires while trace(P) &gt; 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" y="3291840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2D4A"/>
                </a:solidFill>
              </a:rPr>
              <a:t>start_simulation(): cond. 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" y="3785616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556B82"/>
                </a:solidFill>
              </a:rPr>
              <a:t>  if u_L spread &gt; 0.5: OLS init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75688" y="4690872"/>
            <a:ext cx="54864" cy="274320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5960" y="4937760"/>
            <a:ext cx="274320" cy="54864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15384" y="1170432"/>
            <a:ext cx="3749039" cy="3520440"/>
          </a:xfrm>
          <a:prstGeom prst="rect">
            <a:avLst/>
          </a:prstGeom>
          <a:solidFill>
            <a:srgbClr val="F4F6F9"/>
          </a:solidFill>
          <a:ln w="1016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15384" y="1170432"/>
            <a:ext cx="3749039" cy="347472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5112" y="1188720"/>
            <a:ext cx="356616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class LeaderMK2(Leader, _RLSMixin)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15384" y="1517904"/>
            <a:ext cx="3749039" cy="219456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5112" y="1536192"/>
            <a:ext cx="356616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1">
                <a:solidFill>
                  <a:srgbClr val="D6E4F3"/>
                </a:solidFill>
              </a:rPr>
              <a:t>vs MK2 &amp; MK5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88536" y="1755648"/>
            <a:ext cx="3602736" cy="28620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79976" y="1810512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2D4A"/>
                </a:solidFill>
              </a:rPr>
              <a:t>lam = 0.92  |  OLS warm-start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9976" y="2304288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2D4A"/>
                </a:solidFill>
              </a:rPr>
              <a:t>Adaptive explore [16.0]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9976" y="2798064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556B82"/>
                </a:solidFill>
              </a:rPr>
              <a:t>  fires while trace(P) &gt; 0.5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9976" y="3291840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2D4A"/>
                </a:solidFill>
              </a:rPr>
              <a:t>start_simulation():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9976" y="3785616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556B82"/>
                </a:solidFill>
              </a:rPr>
              <a:t>  days 51-100, _batch_init_rls()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62472" y="4690872"/>
            <a:ext cx="54864" cy="274320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52744" y="4937760"/>
            <a:ext cx="274320" cy="54864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02168" y="1170432"/>
            <a:ext cx="3749039" cy="3520440"/>
          </a:xfrm>
          <a:prstGeom prst="rect">
            <a:avLst/>
          </a:prstGeom>
          <a:solidFill>
            <a:srgbClr val="F4F6F9"/>
          </a:solidFill>
          <a:ln w="1016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02168" y="1170432"/>
            <a:ext cx="3749039" cy="347472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11896" y="1188720"/>
            <a:ext cx="356616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class LeaderMK3(Leader, _RLSMixin)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02168" y="1517904"/>
            <a:ext cx="3749039" cy="219456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11896" y="1536192"/>
            <a:ext cx="356616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1">
                <a:solidFill>
                  <a:srgbClr val="D6E4F3"/>
                </a:solidFill>
              </a:rPr>
              <a:t>vs MK3 &amp; MK6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75320" y="1755648"/>
            <a:ext cx="3602736" cy="28620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66760" y="1810512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2D4A"/>
                </a:solidFill>
              </a:rPr>
              <a:t>lam = 0.95  |  2-D RLS, slope prior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2304288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2D4A"/>
                </a:solidFill>
              </a:rPr>
              <a:t>Adaptive explore [10, 11, 13]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2798064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556B82"/>
                </a:solidFill>
              </a:rPr>
              <a:t>  fires while trace(P) &gt; 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3291840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2D4A"/>
                </a:solidFill>
              </a:rPr>
              <a:t>start_simulation():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3785616"/>
            <a:ext cx="34290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556B82"/>
                </a:solidFill>
              </a:rPr>
              <a:t>  days 71-100, OLS warm-start θ &amp; 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49256" y="4690872"/>
            <a:ext cx="54864" cy="274320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939528" y="4937760"/>
            <a:ext cx="274320" cy="54864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8600" y="4992624"/>
            <a:ext cx="11750040" cy="1627632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8600" y="4992624"/>
            <a:ext cx="11750040" cy="347472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5010912"/>
            <a:ext cx="114300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class _RLSMixin   (Lecture 6 RLS — inherited by all three leaders)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5394960"/>
            <a:ext cx="1828800" cy="1152144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79" y="5440680"/>
            <a:ext cx="1664208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6E4F3"/>
                </a:solidFill>
              </a:rPr>
              <a:t>_init_rls()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79" y="5797296"/>
            <a:ext cx="1664208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8A97A8"/>
                </a:solidFill>
              </a:rPr>
              <a:t>Initialise theta=[b,a],
P=1000·I, store lambda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240280" y="5394960"/>
            <a:ext cx="1828800" cy="1152144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331720" y="5440680"/>
            <a:ext cx="1664208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6E4F3"/>
                </a:solidFill>
              </a:rPr>
              <a:t>_rls_update()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5797296"/>
            <a:ext cx="1664208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8A97A8"/>
                </a:solidFill>
              </a:rPr>
              <a:t>Kalman gain K,
update P and theta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60520" y="5394960"/>
            <a:ext cx="1828800" cy="1152144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51960" y="5440680"/>
            <a:ext cx="1664208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6E4F3"/>
                </a:solidFill>
              </a:rPr>
              <a:t>_optimal_price()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51960" y="5797296"/>
            <a:ext cx="1664208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8A97A8"/>
                </a:solidFill>
              </a:rPr>
              <a:t>Stackelberg formula
u_L* = (B-A)/(2B)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80760" y="5394960"/>
            <a:ext cx="1828800" cy="1152144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72200" y="5440680"/>
            <a:ext cx="1664208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6E4F3"/>
                </a:solidFill>
              </a:rPr>
              <a:t>_next_price()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72200" y="5797296"/>
            <a:ext cx="1664208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8A97A8"/>
                </a:solidFill>
              </a:rPr>
              <a:t>Adaptive explore:
if trace(P) &gt; threshold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01000" y="5394960"/>
            <a:ext cx="1828800" cy="1152144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92440" y="5440680"/>
            <a:ext cx="1664208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6E4F3"/>
                </a:solidFill>
              </a:rPr>
              <a:t>_record_and_update()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92440" y="5797296"/>
            <a:ext cx="1664208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8A97A8"/>
                </a:solidFill>
              </a:rPr>
              <a:t>Observe u_F from engine,
run one RLS step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921240" y="5394960"/>
            <a:ext cx="1828800" cy="1152144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012680" y="5440680"/>
            <a:ext cx="1664208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6E4F3"/>
                </a:solidFill>
              </a:rPr>
              <a:t>_batch_init_rls()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12680" y="5797296"/>
            <a:ext cx="1664208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8A97A8"/>
                </a:solidFill>
              </a:rPr>
              <a:t>OLS warm-start:
fit theta &amp; P from history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LeaderMK1: vs MK1 &amp; MK4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Escaping the narrow history trap with fast forgetting and targeted exploration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170432"/>
            <a:ext cx="4846320" cy="1737360"/>
          </a:xfrm>
          <a:prstGeom prst="rect">
            <a:avLst/>
          </a:prstGeom>
          <a:solidFill>
            <a:srgbClr val="FDF0EE"/>
          </a:solidFill>
          <a:ln w="12700">
            <a:solidFill>
              <a:srgbClr val="A8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170432"/>
            <a:ext cx="4846320" cy="347472"/>
          </a:xfrm>
          <a:prstGeom prst="rect">
            <a:avLst/>
          </a:prstGeom>
          <a:solidFill>
            <a:srgbClr val="A8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88720"/>
            <a:ext cx="4663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81912"/>
            <a:ext cx="4572000" cy="4480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2C353F"/>
                </a:solidFill>
              </a:rPr>
              <a:t>Narrow history band: slope estimate unreliable at live prices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984248"/>
            <a:ext cx="4572000" cy="4480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2C353F"/>
                </a:solidFill>
              </a:rPr>
              <a:t>7-day exploration including price 38 collapsed demand (S_L = 4, profit 148/day)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86584"/>
            <a:ext cx="4572000" cy="4480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2C353F"/>
                </a:solidFill>
              </a:rPr>
              <a:t>Stale historical data dominated live RLS updates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2999232"/>
            <a:ext cx="4846320" cy="1737360"/>
          </a:xfrm>
          <a:prstGeom prst="rect">
            <a:avLst/>
          </a:prstGeom>
          <a:solidFill>
            <a:srgbClr val="E8F5EE"/>
          </a:solidFill>
          <a:ln w="1270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2999232"/>
            <a:ext cx="4846320" cy="34747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017520"/>
            <a:ext cx="4663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401568"/>
            <a:ext cx="4572000" cy="3566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λ = 0.88: live data dominates within ~10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12464"/>
            <a:ext cx="4572000" cy="3566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P = 1000·I → trace(P) &gt; 50 fires exploration automatically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23360"/>
            <a:ext cx="4572000" cy="3566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Single explore [19]: earns ~975/day, anchors slope; 29 greedy days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34256"/>
            <a:ext cx="4572000" cy="3566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Conditional OLS: if history spread &gt; 0.5 → batch init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828032"/>
            <a:ext cx="4846320" cy="8412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600" y="4828032"/>
            <a:ext cx="4846320" cy="329184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846320"/>
            <a:ext cx="4572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6E4F3"/>
                </a:solidFill>
              </a:rPr>
              <a:t>Generalisation to MK4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166360"/>
            <a:ext cx="45720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8A97A8"/>
                </a:solidFill>
              </a:rPr>
              <a:t>λ=0.88: after 10 live steps, old history contributes only 28% weight — shifted MK4 slope re-learned in 1–2 observations. Residual clip ±10 absorbs unknown MK4 outliers.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5742432"/>
            <a:ext cx="4846320" cy="100584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5833872"/>
            <a:ext cx="4572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D6E4F3"/>
                </a:solidFill>
              </a:rPr>
              <a:t>Final Result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071616"/>
            <a:ext cx="45720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28,570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73952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1">
                <a:solidFill>
                  <a:srgbClr val="D6E4F3"/>
                </a:solidFill>
              </a:rPr>
              <a:t>+418 vs EWLS baseline</a:t>
            </a:r>
          </a:p>
        </p:txBody>
      </p:sp>
      <p:pic>
        <p:nvPicPr>
          <p:cNvPr id="28" name="Picture 27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170432"/>
            <a:ext cx="6720840" cy="213109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303520" y="5650992"/>
            <a:ext cx="67208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1">
                <a:solidFill>
                  <a:srgbClr val="556B82"/>
                </a:solidFill>
              </a:rPr>
              <a:t>Live convergence: single exploration point [19] anchors slope estimate. Greedy price stabilises at u_L ≈ 20 from day 102.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LeaderMK2: vs MK2 &amp; MK5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Contamination detection + warm-start: all 30 days greedy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170432"/>
            <a:ext cx="4846320" cy="1737360"/>
          </a:xfrm>
          <a:prstGeom prst="rect">
            <a:avLst/>
          </a:prstGeom>
          <a:solidFill>
            <a:srgbClr val="FDF0EE"/>
          </a:solidFill>
          <a:ln w="12700">
            <a:solidFill>
              <a:srgbClr val="A8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170432"/>
            <a:ext cx="4846320" cy="347472"/>
          </a:xfrm>
          <a:prstGeom prst="rect">
            <a:avLst/>
          </a:prstGeom>
          <a:solidFill>
            <a:srgbClr val="A8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88720"/>
            <a:ext cx="4663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81912"/>
            <a:ext cx="4572000" cy="4480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2C353F"/>
                </a:solidFill>
              </a:rPr>
              <a:t>Day 36 spike (u_F=51.8) drives days 1–50 OLS slope to −19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984248"/>
            <a:ext cx="4572000" cy="4480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2C353F"/>
                </a:solidFill>
              </a:rPr>
              <a:t>5-day exploration: 3 days at low prices (u_L=2 earns ~100/day)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86584"/>
            <a:ext cx="4572000" cy="4480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2C353F"/>
                </a:solidFill>
              </a:rPr>
              <a:t>3 wasted low-price days = ~2,850 lost profit vs greedy phase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2999232"/>
            <a:ext cx="4846320" cy="1737360"/>
          </a:xfrm>
          <a:prstGeom prst="rect">
            <a:avLst/>
          </a:prstGeom>
          <a:solidFill>
            <a:srgbClr val="E8F5EE"/>
          </a:solidFill>
          <a:ln w="1270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2999232"/>
            <a:ext cx="4846320" cy="34747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017520"/>
            <a:ext cx="4663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401568"/>
            <a:ext cx="4572000" cy="3566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Discard days 1–50: warm-start from clean days 51–100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12464"/>
            <a:ext cx="4572000" cy="3566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Batch OLS → trace(P) &lt; 0.5 → exploration skipped; all 30 days greedy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23360"/>
            <a:ext cx="4572000" cy="3566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Residual clip ±5: spike of +48 capped — θ shifts by at most 5/‖K‖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34256"/>
            <a:ext cx="4572000" cy="3566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λ = 0.92: adapts to any MK5 parameter drift within ~15 live steps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828032"/>
            <a:ext cx="4846320" cy="8412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600" y="4828032"/>
            <a:ext cx="4846320" cy="329184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846320"/>
            <a:ext cx="4572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6E4F3"/>
                </a:solidFill>
              </a:rPr>
              <a:t>Generalisation to MK5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166360"/>
            <a:ext cx="45720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8A97A8"/>
                </a:solidFill>
              </a:rPr>
              <a:t>Warm-start from days 51–100 is already outlier-resistant. Residual clip ±5 caps any future MK5 spike. λ=0.92 re-learns shifted params within 15 steps regardless of the specific shift.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5742432"/>
            <a:ext cx="4846320" cy="100584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5833872"/>
            <a:ext cx="4572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D6E4F3"/>
                </a:solidFill>
              </a:rPr>
              <a:t>Final Result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071616"/>
            <a:ext cx="45720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31,714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73952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1">
                <a:solidFill>
                  <a:srgbClr val="D6E4F3"/>
                </a:solidFill>
              </a:rPr>
              <a:t>+2,548 vs EWLS baseline</a:t>
            </a:r>
          </a:p>
        </p:txBody>
      </p:sp>
      <p:pic>
        <p:nvPicPr>
          <p:cNvPr id="28" name="Picture 27" descr="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170432"/>
            <a:ext cx="6720840" cy="240470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303520" y="5650992"/>
            <a:ext cx="67208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1">
                <a:solidFill>
                  <a:srgbClr val="556B82"/>
                </a:solidFill>
              </a:rPr>
              <a:t>Regime chart shows day-36 contamination. Warm-start from clean history means all 30 live days are greedy.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LeaderMK3: vs MK3 &amp; MK6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Constant follower model + informative prior: near-ceiling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170432"/>
            <a:ext cx="4846320" cy="1737360"/>
          </a:xfrm>
          <a:prstGeom prst="rect">
            <a:avLst/>
          </a:prstGeom>
          <a:solidFill>
            <a:srgbClr val="FDF0EE"/>
          </a:solidFill>
          <a:ln w="12700">
            <a:solidFill>
              <a:srgbClr val="A8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170432"/>
            <a:ext cx="4846320" cy="347472"/>
          </a:xfrm>
          <a:prstGeom prst="rect">
            <a:avLst/>
          </a:prstGeom>
          <a:solidFill>
            <a:srgbClr val="A8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88720"/>
            <a:ext cx="4663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81912"/>
            <a:ext cx="4572000" cy="4480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2C353F"/>
                </a:solidFill>
              </a:rPr>
              <a:t>MK3 slope: R²=0.038, statistically indistinguishable from 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984248"/>
            <a:ext cx="4572000" cy="4480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2C353F"/>
                </a:solidFill>
              </a:rPr>
              <a:t>Live b shifted 2× from history: 2.73 vs historical 1.34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86584"/>
            <a:ext cx="4572000" cy="4480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2C353F"/>
                </a:solidFill>
              </a:rPr>
              <a:t>Old exploration at price 3 earned only 186/day vs ~530 near optimum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2999232"/>
            <a:ext cx="4846320" cy="1737360"/>
          </a:xfrm>
          <a:prstGeom prst="rect">
            <a:avLst/>
          </a:prstGeom>
          <a:solidFill>
            <a:srgbClr val="E8F5EE"/>
          </a:solidFill>
          <a:ln w="1270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2999232"/>
            <a:ext cx="4846320" cy="34747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017520"/>
            <a:ext cx="4663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401568"/>
            <a:ext cx="4572000" cy="3566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OLS warm-start days 71–100: P = (X'X)⁻¹, trace(P) ≈ 90.7 &gt; threshold 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12464"/>
            <a:ext cx="4572000" cy="3566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All 3 explore prices [10,11,13] fire; each earns ~530/day near the optimum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23360"/>
            <a:ext cx="4572000" cy="3566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After exploration trace(P) drops below 80 → greedy from day 104 onward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34256"/>
            <a:ext cx="4572000" cy="3566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Optimal price: u_L* = (105 + 3b)/10, updates daily as b is learned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828032"/>
            <a:ext cx="4846320" cy="8412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600" y="4828032"/>
            <a:ext cx="4846320" cy="329184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846320"/>
            <a:ext cx="4572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6E4F3"/>
                </a:solidFill>
              </a:rPr>
              <a:t>Generalisation to MK6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166360"/>
            <a:ext cx="45720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8A97A8"/>
                </a:solidFill>
              </a:rPr>
              <a:t>Strong slope prior means any MK6 b shift is learned within 3–5 observations. No hardcoded value depends on historical b. Optimal price formula auto-adjusts every day.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5742432"/>
            <a:ext cx="4846320" cy="100584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5833872"/>
            <a:ext cx="4572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D6E4F3"/>
                </a:solidFill>
              </a:rPr>
              <a:t>Final Result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071616"/>
            <a:ext cx="45720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16,008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73952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1">
                <a:solidFill>
                  <a:srgbClr val="D6E4F3"/>
                </a:solidFill>
              </a:rPr>
              <a:t>+516 vs EWLS, above theoretical max</a:t>
            </a:r>
          </a:p>
        </p:txBody>
      </p:sp>
      <p:pic>
        <p:nvPicPr>
          <p:cNvPr id="28" name="Picture 27" descr="mk3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170432"/>
            <a:ext cx="6720840" cy="240617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303520" y="5650992"/>
            <a:ext cx="67208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1">
                <a:solidFill>
                  <a:srgbClr val="556B82"/>
                </a:solidFill>
              </a:rPr>
              <a:t>Left: slope fit vs constant model on MK3 scatter. Right: constant model with live b=2.73 gives true optimal at u_L* ≈ 11.3.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Journey: Iterative Improvements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Every change was motivated by data analysis and diagnosed failures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170432"/>
            <a:ext cx="2286000" cy="3840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" y="1188720"/>
            <a:ext cx="219456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2514600" y="1170432"/>
            <a:ext cx="3474720" cy="3840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87752" y="1188720"/>
            <a:ext cx="3383279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Key Change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170432"/>
            <a:ext cx="1371600" cy="3840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62472" y="1188720"/>
            <a:ext cx="128016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MK1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60920" y="1170432"/>
            <a:ext cx="1371600" cy="3840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4072" y="1188720"/>
            <a:ext cx="128016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MK2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32520" y="1170432"/>
            <a:ext cx="1417320" cy="3840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05672" y="1188720"/>
            <a:ext cx="132588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MK3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49840" y="1170432"/>
            <a:ext cx="1508760" cy="384048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22992" y="1188720"/>
            <a:ext cx="1417319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1554480"/>
            <a:ext cx="2286000" cy="795528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1664207"/>
            <a:ext cx="214884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Baseline (EWLS)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14600" y="1554480"/>
            <a:ext cx="3474720" cy="795528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06040" y="1664207"/>
            <a:ext cx="333756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Original implementation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1554480"/>
            <a:ext cx="1371600" cy="795528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59" y="1664207"/>
            <a:ext cx="123444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28,152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60920" y="1554480"/>
            <a:ext cx="1371600" cy="795528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60" y="1664207"/>
            <a:ext cx="123444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29,166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32520" y="1554480"/>
            <a:ext cx="1417320" cy="795528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1664207"/>
            <a:ext cx="128016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15,492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149840" y="1554480"/>
            <a:ext cx="1508760" cy="795528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0" y="1664207"/>
            <a:ext cx="137160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72,810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2350008"/>
            <a:ext cx="2286000" cy="795528"/>
          </a:xfrm>
          <a:prstGeom prst="rect">
            <a:avLst/>
          </a:prstGeom>
          <a:solidFill>
            <a:srgbClr val="FDF5EC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2459736"/>
            <a:ext cx="214884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RLS Phase 1 (Lecture 6)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14600" y="2350008"/>
            <a:ext cx="3474720" cy="795528"/>
          </a:xfrm>
          <a:prstGeom prst="rect">
            <a:avLst/>
          </a:prstGeom>
          <a:solidFill>
            <a:srgbClr val="FDF5EC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06040" y="2459736"/>
            <a:ext cx="333756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EWLS replaced with RLS + forgetting factor lambda. MK1: [5,15,20], MK2: [2,6,12,20,32]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89320" y="2350008"/>
            <a:ext cx="1371600" cy="795528"/>
          </a:xfrm>
          <a:prstGeom prst="rect">
            <a:avLst/>
          </a:prstGeom>
          <a:solidFill>
            <a:srgbClr val="FDF5EC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80759" y="2459736"/>
            <a:ext cx="123444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26,298*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60920" y="2350008"/>
            <a:ext cx="1371600" cy="795528"/>
          </a:xfrm>
          <a:prstGeom prst="rect">
            <a:avLst/>
          </a:prstGeom>
          <a:solidFill>
            <a:srgbClr val="FDF5EC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52360" y="2459736"/>
            <a:ext cx="123444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29,793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32520" y="2350008"/>
            <a:ext cx="1417320" cy="795528"/>
          </a:xfrm>
          <a:prstGeom prst="rect">
            <a:avLst/>
          </a:prstGeom>
          <a:solidFill>
            <a:srgbClr val="FDF5EC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2459736"/>
            <a:ext cx="128016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15,516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49840" y="2350008"/>
            <a:ext cx="1508760" cy="795528"/>
          </a:xfrm>
          <a:prstGeom prst="rect">
            <a:avLst/>
          </a:prstGeom>
          <a:solidFill>
            <a:srgbClr val="FDF5EC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0" y="2459736"/>
            <a:ext cx="137160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71,607*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" y="3145536"/>
            <a:ext cx="2286000" cy="795528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0040" y="3255264"/>
            <a:ext cx="214884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MK1 exploration fix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514600" y="3145536"/>
            <a:ext cx="3474720" cy="795528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06040" y="3255264"/>
            <a:ext cx="333756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7-day exploration caused demand collapse at price 38. Reduced to 2 days [5, 20]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89320" y="3145536"/>
            <a:ext cx="1371600" cy="795528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80759" y="3255264"/>
            <a:ext cx="123444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28,367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60920" y="3145536"/>
            <a:ext cx="1371600" cy="795528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52360" y="3255264"/>
            <a:ext cx="123444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29,793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732520" y="3145536"/>
            <a:ext cx="1417320" cy="795528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3960" y="3255264"/>
            <a:ext cx="128016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15,516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149840" y="3145536"/>
            <a:ext cx="1508760" cy="795528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241280" y="3255264"/>
            <a:ext cx="137160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73,676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8600" y="3941063"/>
            <a:ext cx="2286000" cy="795528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" y="4050791"/>
            <a:ext cx="214884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MK3 exploration prices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514600" y="3941063"/>
            <a:ext cx="3474720" cy="795528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06040" y="4050791"/>
            <a:ext cx="333756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Changed [3,6,10] to [10,11,13]. Explore near live optimum (u_L* approx 11.3)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989320" y="3941063"/>
            <a:ext cx="1371600" cy="795528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80759" y="4050791"/>
            <a:ext cx="123444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28,367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60920" y="3941063"/>
            <a:ext cx="1371600" cy="795528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52360" y="4050791"/>
            <a:ext cx="123444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29,793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732520" y="3941063"/>
            <a:ext cx="1417320" cy="795528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23960" y="4050791"/>
            <a:ext cx="128016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15,990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149840" y="3941063"/>
            <a:ext cx="1508760" cy="795528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241280" y="4050791"/>
            <a:ext cx="137160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74,150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28600" y="4736592"/>
            <a:ext cx="2286000" cy="795528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20040" y="4846320"/>
            <a:ext cx="214884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MK2 exploration reduced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514600" y="4736592"/>
            <a:ext cx="3474720" cy="795528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06040" y="4846320"/>
            <a:ext cx="333756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5 days reduced to 2 days [12,20]. OLS warm-start gives confident prior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989320" y="4736592"/>
            <a:ext cx="1371600" cy="795528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080759" y="4846320"/>
            <a:ext cx="123444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28,367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60920" y="4736592"/>
            <a:ext cx="1371600" cy="795528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52360" y="4846320"/>
            <a:ext cx="123444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31,714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732520" y="4736592"/>
            <a:ext cx="1417320" cy="795528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823960" y="4846320"/>
            <a:ext cx="128016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16,008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149840" y="4736592"/>
            <a:ext cx="1508760" cy="795528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241280" y="4846320"/>
            <a:ext cx="137160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0" i="0">
                <a:solidFill>
                  <a:srgbClr val="2C353F"/>
                </a:solidFill>
              </a:rPr>
              <a:t>76,090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28600" y="5532120"/>
            <a:ext cx="2286000" cy="795528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20040" y="5641848"/>
            <a:ext cx="214884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MK1 single-explore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514600" y="5532120"/>
            <a:ext cx="3474720" cy="795528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06040" y="5641848"/>
            <a:ext cx="333756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2C353F"/>
                </a:solidFill>
              </a:rPr>
              <a:t>Explore [5,20] → [19]. Near-optimal explore earns ~975/day vs 371/day at u_L=5; max_price capped at 20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989320" y="5532120"/>
            <a:ext cx="1371600" cy="795528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080759" y="5641848"/>
            <a:ext cx="123444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1A7A4A"/>
                </a:solidFill>
              </a:rPr>
              <a:t>28,570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360920" y="5532120"/>
            <a:ext cx="1371600" cy="795528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452360" y="5641848"/>
            <a:ext cx="123444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1A7A4A"/>
                </a:solidFill>
              </a:rPr>
              <a:t>31,714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732520" y="5532120"/>
            <a:ext cx="1417320" cy="795528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823960" y="5641848"/>
            <a:ext cx="128016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1A7A4A"/>
                </a:solidFill>
              </a:rPr>
              <a:t>16,008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149840" y="5532120"/>
            <a:ext cx="1508760" cy="795528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241280" y="5641848"/>
            <a:ext cx="1371600" cy="6309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1A7A4A"/>
                </a:solidFill>
              </a:rPr>
              <a:t>76,292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8600" y="6382512"/>
            <a:ext cx="118872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1">
                <a:solidFill>
                  <a:srgbClr val="8A97A8"/>
                </a:solidFill>
              </a:rPr>
              <a:t>* MK1 Phase 1 was worse due to 7-day exploration at extreme prices (including 38) causing demand collapse.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37160"/>
            <a:ext cx="1143000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Final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43000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1">
                <a:solidFill>
                  <a:srgbClr val="D6E4F3"/>
                </a:solidFill>
              </a:rPr>
              <a:t>Accumulated profit over 30 live days (101–130)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70432"/>
            <a:ext cx="3657600" cy="320040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61872"/>
            <a:ext cx="329184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MK1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810512"/>
            <a:ext cx="3657600" cy="27432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4630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D6E4F3"/>
                </a:solidFill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920240"/>
            <a:ext cx="14630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D6E4F3"/>
                </a:solidFill>
              </a:rP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40280"/>
            <a:ext cx="146304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 i="0">
                <a:solidFill>
                  <a:srgbClr val="8A97A8"/>
                </a:solidFill>
              </a:rPr>
              <a:t>28,152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40280"/>
            <a:ext cx="146304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28,570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88920"/>
            <a:ext cx="3291840" cy="457200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834640"/>
            <a:ext cx="329184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+418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24528" y="1170432"/>
            <a:ext cx="3657600" cy="320040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8" y="1261872"/>
            <a:ext cx="329184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MK2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24528" y="1810512"/>
            <a:ext cx="3657600" cy="27432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8" y="1920240"/>
            <a:ext cx="14630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D6E4F3"/>
                </a:solidFill>
              </a:rPr>
              <a:t>Before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1920240"/>
            <a:ext cx="14630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D6E4F3"/>
                </a:solidFill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240280"/>
            <a:ext cx="146304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 i="0">
                <a:solidFill>
                  <a:srgbClr val="8A97A8"/>
                </a:solidFill>
              </a:rPr>
              <a:t>29,166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6208" y="2240280"/>
            <a:ext cx="146304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31,714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7408" y="2788920"/>
            <a:ext cx="3291840" cy="457200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07408" y="2834640"/>
            <a:ext cx="329184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+2,548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4736" y="1170432"/>
            <a:ext cx="3657600" cy="3200400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7615" y="1261872"/>
            <a:ext cx="329184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MK3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74736" y="1810512"/>
            <a:ext cx="3657600" cy="27432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7615" y="1920240"/>
            <a:ext cx="14630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D6E4F3"/>
                </a:solidFill>
              </a:rPr>
              <a:t>Before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86416" y="1920240"/>
            <a:ext cx="14630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D6E4F3"/>
                </a:solidFill>
              </a:rP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7615" y="2240280"/>
            <a:ext cx="146304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 i="0">
                <a:solidFill>
                  <a:srgbClr val="8A97A8"/>
                </a:solidFill>
              </a:rPr>
              <a:t>15,492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86416" y="2240280"/>
            <a:ext cx="146304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16,008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57615" y="2788920"/>
            <a:ext cx="3291840" cy="457200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57615" y="2834640"/>
            <a:ext cx="329184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+516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572000"/>
            <a:ext cx="11640312" cy="1188720"/>
          </a:xfrm>
          <a:prstGeom prst="rect">
            <a:avLst/>
          </a:prstGeom>
          <a:solidFill>
            <a:srgbClr val="14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" y="4572000"/>
            <a:ext cx="109728" cy="1188720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681728"/>
            <a:ext cx="22860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1" i="0">
                <a:solidFill>
                  <a:srgbClr val="D6E4F3"/>
                </a:solidFill>
              </a:rPr>
              <a:t>Total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4663440"/>
            <a:ext cx="59436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72,810   →   76,292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4663440"/>
            <a:ext cx="30175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800" b="1" i="0">
                <a:solidFill>
                  <a:srgbClr val="D6E4F3"/>
                </a:solidFill>
              </a:rPr>
              <a:t>+3,482  profit  (+4.8%)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230368"/>
            <a:ext cx="11430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8A97A8"/>
                </a:solidFill>
              </a:rPr>
              <a:t>MK3 (16,008) exceeded the static theoretical maximum (~15,970): scalar RLS tracks real-time fluctuations in b that a static model cannot.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Course Integration &amp; Novel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D6E4F3"/>
                </a:solidFill>
              </a:rPr>
              <a:t>Every lecture concept implemented — plus four extensions grounded in published literature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170432"/>
            <a:ext cx="5760720" cy="5440680"/>
          </a:xfrm>
          <a:prstGeom prst="rect">
            <a:avLst/>
          </a:prstGeom>
          <a:solidFill>
            <a:srgbClr val="F4F6F9"/>
          </a:solidFill>
          <a:ln w="1016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170432"/>
            <a:ext cx="5760720" cy="402336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88720"/>
            <a:ext cx="54864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Course Content Integration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82496"/>
            <a:ext cx="1005840" cy="109728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029968"/>
            <a:ext cx="9144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1C2D4A"/>
                </a:solidFill>
              </a:rPr>
              <a:t>Lec 2–3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1682496"/>
            <a:ext cx="4480560" cy="1097280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1737360"/>
            <a:ext cx="429768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1C2D4A"/>
                </a:solidFill>
              </a:rPr>
              <a:t>Stackelberg optimal price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084832"/>
            <a:ext cx="429768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2C353F"/>
                </a:solidFill>
              </a:rPr>
              <a:t>_optimal_price(): u_L*=(B-A)/(2B) derived analytically; used every greedy 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871216"/>
            <a:ext cx="1005840" cy="109728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218688"/>
            <a:ext cx="9144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1C2D4A"/>
                </a:solidFill>
              </a:rPr>
              <a:t>Lec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871216"/>
            <a:ext cx="4480560" cy="1097280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926080"/>
            <a:ext cx="429768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1C2D4A"/>
                </a:solidFill>
              </a:rPr>
              <a:t>Historical data / batch WLS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273552"/>
            <a:ext cx="429768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2C353F"/>
                </a:solidFill>
              </a:rPr>
              <a:t>_batch_init_rls(): OLS on clean history window initialises θ before live play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059936"/>
            <a:ext cx="1005840" cy="109728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407408"/>
            <a:ext cx="9144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1C2D4A"/>
                </a:solidFill>
              </a:rPr>
              <a:t>Lec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0" y="4059936"/>
            <a:ext cx="4480560" cy="1097280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63040" y="4114800"/>
            <a:ext cx="429768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1C2D4A"/>
                </a:solidFill>
              </a:rPr>
              <a:t>Multi-variable regression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62272"/>
            <a:ext cx="429768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2C353F"/>
                </a:solidFill>
              </a:rPr>
              <a:t>φ=[1, u_L]ᵀ, θ=[b, a]ᵀ — principled feature/parameter vector design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5248656"/>
            <a:ext cx="1005840" cy="1097280"/>
          </a:xfrm>
          <a:prstGeom prst="rect">
            <a:avLst/>
          </a:prstGeom>
          <a:solidFill>
            <a:srgbClr val="D6E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596128"/>
            <a:ext cx="9144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100" b="1" i="0">
                <a:solidFill>
                  <a:srgbClr val="1C2D4A"/>
                </a:solidFill>
              </a:rPr>
              <a:t>Lec 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0" y="5248656"/>
            <a:ext cx="4480560" cy="1097280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63040" y="5303520"/>
            <a:ext cx="429768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1C2D4A"/>
                </a:solidFill>
              </a:rPr>
              <a:t>RLS with forgetting factor 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650992"/>
            <a:ext cx="429768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2C353F"/>
                </a:solidFill>
              </a:rPr>
              <a:t>_rls_update(): O(1) Kalman step every day; λ discounts stale observations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1170432"/>
            <a:ext cx="5806440" cy="544068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1170432"/>
            <a:ext cx="5806440" cy="40233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1188720"/>
            <a:ext cx="557784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Novel Contributions — Beyond Course Material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1682496"/>
            <a:ext cx="5577840" cy="1152144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1728216"/>
            <a:ext cx="53492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D6E4F3"/>
                </a:solidFill>
              </a:rPr>
              <a:t>Huber-Robust Innovation Clipping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066544"/>
            <a:ext cx="534924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clip(u_F − φᵀθ, −c, +c) before Kalman update. MK2 day-36 spike: uncorrected shift = 46 units; capped at ±5.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2560320"/>
            <a:ext cx="53492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8A97A8"/>
                </a:solidFill>
              </a:rPr>
              <a:t>Huber, P.J. (1964). Ann. Math. Stat. 35:73–101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2916936"/>
            <a:ext cx="5577840" cy="1152144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2962656"/>
            <a:ext cx="53492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D6E4F3"/>
                </a:solidFill>
              </a:rPr>
              <a:t>Information-Directed Adaptive Exploration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300984"/>
            <a:ext cx="534924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while trace(P) &gt; threshold: explore; else greedy. D-optimality: explore only while parameter uncertainty is genuinely high.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3794760"/>
            <a:ext cx="53492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8A97A8"/>
                </a:solidFill>
              </a:rPr>
              <a:t>Pronzato &amp; Müller (2012). Stat. Comput. 22:701–722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4151376"/>
            <a:ext cx="5577840" cy="1152144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4197096"/>
            <a:ext cx="53492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D6E4F3"/>
                </a:solidFill>
              </a:rPr>
              <a:t>Principled OLS Warm-Start  P = (XᵀX)⁻¹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535424"/>
            <a:ext cx="534924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Correct covariance from clean history, not heuristic P=1000·I. Reduced MK2 exploration from 5 days to 0.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5029200"/>
            <a:ext cx="53492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8A97A8"/>
                </a:solidFill>
              </a:rPr>
              <a:t>Söderström &amp; Stoica (1989). System Identification, Prentice Hall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5385816"/>
            <a:ext cx="5577840" cy="1152144"/>
          </a:xfrm>
          <a:prstGeom prst="rect">
            <a:avLst/>
          </a:prstGeom>
          <a:solidFill>
            <a:srgbClr val="22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46520" y="5431536"/>
            <a:ext cx="53492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D6E4F3"/>
                </a:solidFill>
              </a:rPr>
              <a:t>Regime-Aware Contamination Detection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46520" y="5769864"/>
            <a:ext cx="534924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Day-36 outlier detected (z-score ≫ 3σ); poisoned window discarded. Robust preprocessing prevents biased θ₀.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6520" y="6263640"/>
            <a:ext cx="53492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8A97A8"/>
                </a:solidFill>
              </a:rPr>
              <a:t>Rousseeuw &amp; Leroy (1987). Robust Regression &amp; Outlier Detection, Wiley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C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325880"/>
            <a:ext cx="11750040" cy="658368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35607"/>
            <a:ext cx="1147572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[1]  von Stackelberg, H. (1934). Marktform und Gleichgewicht. Julius Springer, Vienna.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2020824"/>
            <a:ext cx="1175004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130552"/>
            <a:ext cx="1147572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[2]  Fudenberg, D. &amp; Tirole, J. (1991). Game Theory. MIT Press, Cambridge MA.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2715768"/>
            <a:ext cx="11750040" cy="658368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825496"/>
            <a:ext cx="1147572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[3]  Huber, P.J. (1964). Robust estimation of a location parameter. Annals of Mathematical Statistics, 35(1):73–101.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3410711"/>
            <a:ext cx="1175004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520439"/>
            <a:ext cx="1147572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[4]  Pronzato, L. &amp; Müller, W.G. (2012). Design of computer experiments: space filling and beyond. Statistics and Computing, 22(3):701–722.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4105655"/>
            <a:ext cx="11750040" cy="658368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4215383"/>
            <a:ext cx="1147572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[5]  Söderström, T. &amp; Stoica, P. (1989). System Identification. Prentice Hall, Englewood Cliffs NJ.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4800599"/>
            <a:ext cx="1175004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910327"/>
            <a:ext cx="1147572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[6]  Rousseeuw, P.J. &amp; Leroy, A.M. (1987). Robust Regression and Outlier Detection. Wiley, New York.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5495543"/>
            <a:ext cx="11750040" cy="658368"/>
          </a:xfrm>
          <a:prstGeom prst="rect">
            <a:avLst/>
          </a:prstGeom>
          <a:solidFill>
            <a:srgbClr val="F4F6F9"/>
          </a:solidFill>
          <a:ln w="3810">
            <a:solidFill>
              <a:srgbClr val="D0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5605271"/>
            <a:ext cx="1147572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2C353F"/>
                </a:solidFill>
              </a:rPr>
              <a:t>[7]  COMP34612 Lecture Notes, Lectures 2–6. University of Manchester, 2024–25.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