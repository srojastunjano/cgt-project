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09728" cy="201168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2514600"/>
            <a:ext cx="12079224" cy="20116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D6E4F3"/>
                </a:solidFill>
              </a:rPr>
              <a:t>COMP34612  Computational Game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43000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Adaptive Stackelberg Pricing
with Recursive Least Squares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430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0" i="0">
                <a:solidFill>
                  <a:srgbClr val="D6E4F3"/>
                </a:solidFill>
              </a:rPr>
              <a:t>Group 7  · 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280160"/>
            <a:ext cx="1645920" cy="50292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344168"/>
            <a:ext cx="1645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D6E4F3"/>
                </a:solidFill>
              </a:rPr>
              <a:t>Explore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1920240"/>
            <a:ext cx="1645920" cy="50292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984248"/>
            <a:ext cx="1645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D6E4F3"/>
                </a:solidFill>
              </a:rPr>
              <a:t>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560320"/>
            <a:ext cx="1645920" cy="50292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624327"/>
            <a:ext cx="1645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D6E4F3"/>
                </a:solidFill>
              </a:rPr>
              <a:t>Optimise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3200400"/>
            <a:ext cx="1645920" cy="50292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3264408"/>
            <a:ext cx="1645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D6E4F3"/>
                </a:solidFill>
              </a:rPr>
              <a:t>Adapt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Repeated Stackelberg pricing game with unknown, time-varying follower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534924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03520" cy="384048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0292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Game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Leader sets price u_L first; follower observes then responds with u_F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04288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100 days of historical data available (days 1–100)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71216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30 live trading days (days 101–130)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38144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Follower strategy unknown and time-varying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005072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3 known followers: MK1, MK2, MK3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72000"/>
            <a:ext cx="5074920" cy="612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0">
                <a:solidFill>
                  <a:srgbClr val="2C353F"/>
                </a:solidFill>
              </a:rPr>
              <a:t>3 hidden followers: MK4, MK5, MK6 (slightly changed parameters)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89320" cy="534924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234440"/>
            <a:ext cx="598932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261872"/>
            <a:ext cx="576072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Leader Specifications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737360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764792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Unit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737360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64792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c_L  =  £1.00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395728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423160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Demand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395728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423160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S_L  =  100 − 5·u_L + 3·u_F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054096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3081527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Daily profit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054096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081527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π  =  (u_L − 1) · S_L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712463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3739896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Objective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712463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739896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Maximise accumulated profit over 30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370831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4398264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Strategy (MK1/2)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370831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398264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u_L  ∈  [1, +∞)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5029199"/>
            <a:ext cx="2011680" cy="329184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5056631"/>
            <a:ext cx="192024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Strategy (MK3)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5029199"/>
            <a:ext cx="36118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056631"/>
            <a:ext cx="3474720" cy="2834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u_L  ∈  [1, 15]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117043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1">
                <a:solidFill>
                  <a:srgbClr val="8A97A8"/>
                </a:solidFill>
              </a:rPr>
              <a:t>von Stackelberg, H. (1934). Marktform und Gleichgewicht. Julius Springer.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Analysis: Three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Historical data revealed fundamental modelling challenges before any live data was seen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5943600" cy="18846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9360" y="1170432"/>
            <a:ext cx="5715000" cy="1828800"/>
          </a:xfrm>
          <a:prstGeom prst="rect">
            <a:avLst/>
          </a:prstGeom>
          <a:solidFill>
            <a:srgbClr val="F4F6F9"/>
          </a:solidFill>
          <a:ln w="19050">
            <a:solidFill>
              <a:srgbClr val="A8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70432"/>
            <a:ext cx="5715000" cy="347472"/>
          </a:xfrm>
          <a:prstGeom prst="rect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07008"/>
            <a:ext cx="5486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Finding 1 — Narrow History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48640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All followers had u_L ∈ [1.715, 1.900] historically (0.185-unit range). OLS slope estimated from this band cannot extrapolate to live prices u_L ∈ [10–20]. Root cause of original approach's underperformance.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054096"/>
            <a:ext cx="5715000" cy="1828800"/>
          </a:xfrm>
          <a:prstGeom prst="rect">
            <a:avLst/>
          </a:prstGeom>
          <a:solidFill>
            <a:srgbClr val="F4F6F9"/>
          </a:solidFill>
          <a:ln w="19050">
            <a:solidFill>
              <a:srgbClr val="A8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3054096"/>
            <a:ext cx="5715000" cy="347472"/>
          </a:xfrm>
          <a:prstGeom prst="rect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90672"/>
            <a:ext cx="5486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Finding 2 — MK2 Day-36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83863"/>
            <a:ext cx="548640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u_F = 51.8 on day 36 vs normal range [1.5, 3.2]. This single outlier drives days 1–50 OLS slope to −19. Solution: discard days 1–50; use residual clipping ±5 for live protection.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937760"/>
            <a:ext cx="5715000" cy="1828800"/>
          </a:xfrm>
          <a:prstGeom prst="rect">
            <a:avLst/>
          </a:prstGeom>
          <a:solidFill>
            <a:srgbClr val="F4F6F9"/>
          </a:solidFill>
          <a:ln w="19050">
            <a:solidFill>
              <a:srgbClr val="B5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937760"/>
            <a:ext cx="5715000" cy="347472"/>
          </a:xfrm>
          <a:prstGeom prst="rect">
            <a:avLst/>
          </a:prstGeom>
          <a:solidFill>
            <a:srgbClr val="B5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974336"/>
            <a:ext cx="5486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Finding 3 — MK3 Slope R² = 0.038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67528"/>
            <a:ext cx="548640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MK3 follower slope is statistically indistinguishable from zero. Fitting a slope adds noise, not information. Constant follower model (a = 0, learn only b) is the correct statistical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Lectures 2–3: Stackelberg Optimal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Analytical derivation: plugging the fitted reaction function into the profit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4572000" cy="544068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572000" cy="3657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3891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Derivation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Assume linear reaction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5681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u_F  =  a · u_L  +  b        →        θ = [b, a]ᵀ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95728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Substitute into demand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0048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S_L  =  (100 + 3b) + (3a − 5) · u_L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27248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Write leader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985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π_L  =  (u_L − 1) · S_L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58768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Maximise over u_L  (dπ/du_L = 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5137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u_L*  =  (B − A) / (2B)   when B &lt;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90288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Where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64607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8289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A = 100 + 3b     B = 3a − 5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21807"/>
            <a:ext cx="42976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Boundary case  (B ≥ 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96127"/>
            <a:ext cx="4297680" cy="32004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14416"/>
            <a:ext cx="4114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u_L* = max_price or min_price</a:t>
            </a:r>
          </a:p>
        </p:txBody>
      </p:sp>
      <p:pic>
        <p:nvPicPr>
          <p:cNvPr id="28" name="Picture 27" descr="profi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70432"/>
            <a:ext cx="7040880" cy="22338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8600" y="6510528"/>
            <a:ext cx="117043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1">
                <a:solidFill>
                  <a:srgbClr val="8A97A8"/>
                </a:solidFill>
              </a:rPr>
              <a:t>Fudenberg, D. &amp; Tirole, J. (1991). Game Theory. MIT Press.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Lecture 6: RLS + Novel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Standard RLS with three engineered extensions beyond the textbook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5669280" cy="365760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3949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 i="0">
                <a:solidFill>
                  <a:srgbClr val="D6E4F3"/>
                </a:solidFill>
              </a:rPr>
              <a:t>RLS Update Equations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5394960" cy="43891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3474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φ  =  [1,  u_L]ᵀ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10512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D6E4F3"/>
                </a:solidFill>
              </a:rPr>
              <a:t>← feature 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394960" cy="43891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3474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  =  P·φ / (λ + φᵀ·P·φ)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377440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D6E4F3"/>
                </a:solidFill>
              </a:rPr>
              <a:t>← Kalman gain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52928"/>
            <a:ext cx="5394960" cy="43891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98648"/>
            <a:ext cx="3474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  =  (P − K·φᵀ·P) / 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94436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D6E4F3"/>
                </a:solidFill>
              </a:rPr>
              <a:t>← covariance update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19856"/>
            <a:ext cx="5394960" cy="43891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65576"/>
            <a:ext cx="3474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θ  =  θ + K·(u_F − φᵀ·θ)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511296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D6E4F3"/>
                </a:solidFill>
              </a:rPr>
              <a:t>← parameter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41648"/>
            <a:ext cx="53949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1">
                <a:solidFill>
                  <a:srgbClr val="D6E4F3"/>
                </a:solidFill>
              </a:rPr>
              <a:t>θ = [b, a]ᵀ   is the reaction function  u_F = a·u_L + b
λ ∈ (0,1)  is the forgetting factor (older observations discounted)
P  is the 2×2 covariance (uncertainty)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846320"/>
            <a:ext cx="5669280" cy="178308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10328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EWLS (old) vs RLS (new)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85232"/>
            <a:ext cx="1828800" cy="27432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12664"/>
            <a:ext cx="17373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 i="0">
                <a:solidFill>
                  <a:srgbClr val="1C2D4A"/>
                </a:solidFill>
              </a:rPr>
              <a:t>Computational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285232"/>
            <a:ext cx="1737360" cy="27432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312664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A82B2B"/>
                </a:solidFill>
              </a:rPr>
              <a:t>O(n): refits all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5285232"/>
            <a:ext cx="173736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5312664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O(1): one step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596128"/>
            <a:ext cx="1828800" cy="27432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623560"/>
            <a:ext cx="17373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 i="0">
                <a:solidFill>
                  <a:srgbClr val="1C2D4A"/>
                </a:solidFill>
              </a:rPr>
              <a:t>Time-varying params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5596128"/>
            <a:ext cx="1737360" cy="27432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5623560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A82B2B"/>
                </a:solidFill>
              </a:rPr>
              <a:t>Partial (decay helps)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5596128"/>
            <a:ext cx="173736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5623560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Explicit via 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07024"/>
            <a:ext cx="1828800" cy="27432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934456"/>
            <a:ext cx="17373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 i="0">
                <a:solidFill>
                  <a:srgbClr val="1C2D4A"/>
                </a:solidFill>
              </a:rPr>
              <a:t>Online update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907024"/>
            <a:ext cx="1737360" cy="27432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5934456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A82B2B"/>
                </a:solidFill>
              </a:rPr>
              <a:t>Full re-fit each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5907024"/>
            <a:ext cx="173736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5934456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True recursive update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217920"/>
            <a:ext cx="1828800" cy="274320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245352"/>
            <a:ext cx="17373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 i="0">
                <a:solidFill>
                  <a:srgbClr val="1C2D4A"/>
                </a:solidFill>
              </a:rPr>
              <a:t>Lecture alignment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6217920"/>
            <a:ext cx="1737360" cy="274320"/>
          </a:xfrm>
          <a:prstGeom prst="rect">
            <a:avLst/>
          </a:prstGeom>
          <a:solidFill>
            <a:srgbClr val="F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6245352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A82B2B"/>
                </a:solidFill>
              </a:rPr>
              <a:t>Lecture 4 (batch WLS)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77639" y="6217920"/>
            <a:ext cx="173736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6245352"/>
            <a:ext cx="16459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Lecture 6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1170432"/>
            <a:ext cx="5897880" cy="544068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1170432"/>
            <a:ext cx="5897880" cy="420624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1188720"/>
            <a:ext cx="55778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Extensions Beyond Standard RLS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682496"/>
            <a:ext cx="5623560" cy="15910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1737360"/>
            <a:ext cx="534924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1  Huber-Robust Innovation Clipping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103120"/>
            <a:ext cx="5349240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8A97A8"/>
                </a:solidFill>
              </a:rPr>
              <a:t>innovation ← clip(u_F − φᵀθ, −c, +c)  before Kalman update
MK2 day-36 spike would shift θ by 46 units uncorrected — capped at ±5.
→ Huber (1964): Robust Estimation of a Location Parameter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364992"/>
            <a:ext cx="5623560" cy="15910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419856"/>
            <a:ext cx="534924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2  Information-Directed Adaptive Exploration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785616"/>
            <a:ext cx="5349240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8A97A8"/>
                </a:solidFill>
              </a:rPr>
              <a:t>while trace(P) &gt; threshold: explore;  else: greedy
Grounded in D-optimality: explore only while parameter uncertainty is high.
→ Pronzato &amp; Müller (2012): Design of Computer Experiments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047488"/>
            <a:ext cx="5623560" cy="15910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102352"/>
            <a:ext cx="534924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3  Batch OLS Warm-Start with Principled 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468112"/>
            <a:ext cx="5349240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8A97A8"/>
                </a:solidFill>
              </a:rPr>
              <a:t>P ← (XᵀX)⁻¹ from clean history — not heuristic P = 1000·I
Initialises RLS with correct uncertainty, eliminating unnecessary exploration.
→ Söderström &amp; Stoica (1989): System Identification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6510528"/>
            <a:ext cx="58978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1">
                <a:solidFill>
                  <a:srgbClr val="8A97A8"/>
                </a:solidFill>
              </a:rPr>
              <a:t>Huber (1964) Ann. Math. Stat. 35:73–101  ·  Pronzato &amp; Müller (2012) Stat. Comput. 22:701–722  ·  Söderström &amp; Stoica (1989) Prentice Hall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Code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Shared _RLSMixin base class holds all Lecture 6 RLS logic; each leader specialises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3749039" cy="352044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3749039" cy="34747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188720"/>
            <a:ext cx="356616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class LeaderMK1(Leader, _RLSMixin)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17904"/>
            <a:ext cx="3749039" cy="2194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536192"/>
            <a:ext cx="3566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1">
                <a:solidFill>
                  <a:srgbClr val="D6E4F3"/>
                </a:solidFill>
              </a:rPr>
              <a:t>vs MK1 &amp; MK4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" y="1755648"/>
            <a:ext cx="3602736" cy="2862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810512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lam = 0.88  |  P = 1000·I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304288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Single explore [19.0]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798064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fires while trace(P) &gt;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291840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start_simulation(): cond. 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785616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if u_L spread &gt; 0.5: OLS 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4690872"/>
            <a:ext cx="54864" cy="2743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5960" y="4937760"/>
            <a:ext cx="274320" cy="54864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170432"/>
            <a:ext cx="3749039" cy="352044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170432"/>
            <a:ext cx="3749039" cy="34747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1188720"/>
            <a:ext cx="356616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class LeaderMK2(Leader, _RLSMixin)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1688" y="1517904"/>
            <a:ext cx="3749039" cy="2194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536192"/>
            <a:ext cx="3566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1">
                <a:solidFill>
                  <a:srgbClr val="D6E4F3"/>
                </a:solidFill>
              </a:rPr>
              <a:t>vs MK2 &amp; MK5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755648"/>
            <a:ext cx="3602736" cy="2862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1810512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lam = 0.92  |  OLS warm-start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2304288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Adaptive explore [16.0]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2798064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fires while trace(P) &gt;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3291840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start_simulation():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3785616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days 51-100, _batch_init_rls()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5" y="4690872"/>
            <a:ext cx="54864" cy="2743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7" y="4937760"/>
            <a:ext cx="274320" cy="54864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94776" y="1170432"/>
            <a:ext cx="3749039" cy="352044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94776" y="1170432"/>
            <a:ext cx="3749039" cy="34747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04503" y="1188720"/>
            <a:ext cx="356616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class LeaderMK3(Leader, _RLSMixin)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4776" y="1517904"/>
            <a:ext cx="3749039" cy="219456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503" y="1536192"/>
            <a:ext cx="3566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1">
                <a:solidFill>
                  <a:srgbClr val="D6E4F3"/>
                </a:solidFill>
              </a:rPr>
              <a:t>vs MK3 &amp; MK6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7928" y="1755648"/>
            <a:ext cx="3602736" cy="2862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7" y="1810512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lam = 0.95  |  2-D RLS, slope prior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9367" y="2304288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Adaptive explore [10, 11, 13]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9367" y="2798064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fires while trace(P) &gt; 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9367" y="3291840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start_simulation():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9367" y="3785616"/>
            <a:ext cx="34290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 i="0">
                <a:solidFill>
                  <a:srgbClr val="556B82"/>
                </a:solidFill>
              </a:rPr>
              <a:t>  days 71-100, init b=mean(u_F)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41864" y="4690872"/>
            <a:ext cx="54864" cy="2743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32136" y="4937760"/>
            <a:ext cx="274320" cy="54864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4992624"/>
            <a:ext cx="11750040" cy="1627632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4992624"/>
            <a:ext cx="11750040" cy="34747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010912"/>
            <a:ext cx="114300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 _RLSMixin   (Lecture 6 RLS — inherited by all three leaders)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_init_rls()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79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Initialise theta=[b,a],
P=1000·I, store lambda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28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31720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_rls_update()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Kalman gain K,
update P and theta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_optimal_price()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60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Stackelberg formula
u_L* = (B-A)/(2B)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_next_price()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Adaptive explore:
if trace(P) &gt; threshold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92440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_record_and_update()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Observe u_F from engine,
run one RLS step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5394960"/>
            <a:ext cx="18288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12680" y="5440680"/>
            <a:ext cx="166420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1" i="0">
                <a:solidFill>
                  <a:srgbClr val="D6E4F3"/>
                </a:solidFill>
              </a:rPr>
              <a:t>_batch_init_rls()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5797296"/>
            <a:ext cx="1664208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</a:rPr>
              <a:t>OLS warm-start:
fit theta &amp; P from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LeaderMK1: vs MK1 &amp; MK4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Escaping the narrow history trap with fast forgetting and targeted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4846320" cy="2057400"/>
          </a:xfrm>
          <a:prstGeom prst="rect">
            <a:avLst/>
          </a:prstGeom>
          <a:solidFill>
            <a:srgbClr val="FDF0EE"/>
          </a:solidFill>
          <a:ln w="12700">
            <a:solidFill>
              <a:srgbClr val="A8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846320" cy="347472"/>
          </a:xfrm>
          <a:prstGeom prst="rect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Narrow history band meant slope unreliable at live prices (see data slide)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First RLS attempt used 7-day exploration including price 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39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Price 38 collapsed demand to S_L = 4 — profit only 148/day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337560"/>
            <a:ext cx="4846320" cy="21488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337560"/>
            <a:ext cx="484632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55848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6732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λ = 0.88: live data dominates within ~10 steps (fast forgetting)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2452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Large P = 1000·I → trace(P) &gt; 50 threshold triggers exploration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8172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Single explore [19]: near Stackelberg optimum (~19.9), earns ~975/day while anchoring slope; 29 greedy days from day 102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3892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Conditional OLS init: if history u_L spread &gt; 0.5 → batch OLS instead of heuristic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486400"/>
            <a:ext cx="4846320" cy="1261872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D6E4F3"/>
                </a:solidFill>
              </a:rPr>
              <a:t>Final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7044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28,570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82512"/>
            <a:ext cx="45720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 i="1">
                <a:solidFill>
                  <a:srgbClr val="D6E4F3"/>
                </a:solidFill>
              </a:rPr>
              <a:t>+418 vs EWLS baseline</a:t>
            </a:r>
          </a:p>
        </p:txBody>
      </p:sp>
      <p:pic>
        <p:nvPicPr>
          <p:cNvPr id="24" name="Picture 23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70432"/>
            <a:ext cx="6720840" cy="21310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5650992"/>
            <a:ext cx="672084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</a:rPr>
              <a:t>Live convergence: single exploration point [19] anchors slope estimate. Greedy price stabilises at u_L ≈ 20 from day 102.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LeaderMK2: vs MK2 &amp; MK5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Regime detection + warm-start reduces required exploration from 5 days to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4846320" cy="2011680"/>
          </a:xfrm>
          <a:prstGeom prst="rect">
            <a:avLst/>
          </a:prstGeom>
          <a:solidFill>
            <a:srgbClr val="FDF0EE"/>
          </a:solidFill>
          <a:ln w="12700">
            <a:solidFill>
              <a:srgbClr val="A8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846320" cy="347472"/>
          </a:xfrm>
          <a:prstGeom prst="rect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Day 36 spike (u_F=51.8) makes days 1–50 OLS slope = −19 (one point, not a regime change)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9397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5-day exploration wasted 3 days at low prices: price 2 earns ~100/day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9689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vs ~1050/day in greedy phase; 3 wasted days costs ~+2,850 profit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291840"/>
            <a:ext cx="484632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291840"/>
            <a:ext cx="484632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10128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12463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Discard days 1-50: warm-start RLS from clean days 51-100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87952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Batch OLS → trace(P) &lt; 0.5 → exploration auto-skipped; all 30 days greedy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Robust RLS: residual clipped to ±5 — future spikes move θ slightly, not catastrophically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38927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At live price ~20, normal innovations &lt; 2; spike of +48 capped at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486400"/>
            <a:ext cx="4846320" cy="1261872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D6E4F3"/>
                </a:solidFill>
              </a:rPr>
              <a:t>Final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7044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31,714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82512"/>
            <a:ext cx="45720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 i="1">
                <a:solidFill>
                  <a:srgbClr val="D6E4F3"/>
                </a:solidFill>
              </a:rPr>
              <a:t>+2,548 vs EWLS baseline</a:t>
            </a:r>
          </a:p>
        </p:txBody>
      </p:sp>
      <p:pic>
        <p:nvPicPr>
          <p:cNvPr id="24" name="Picture 23" descr="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70432"/>
            <a:ext cx="6720840" cy="2404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5650992"/>
            <a:ext cx="672084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</a:rPr>
              <a:t>Regime plot justifies discarding days 1–50. Warm-start from clean history means only 2 exploration days are needed before greedy.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LeaderMK3: vs MK3 &amp; MK6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Constant follower model + scalar RLS: near-ceiling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4846320" cy="2011680"/>
          </a:xfrm>
          <a:prstGeom prst="rect">
            <a:avLst/>
          </a:prstGeom>
          <a:solidFill>
            <a:srgbClr val="FDF0EE"/>
          </a:solidFill>
          <a:ln w="12700">
            <a:solidFill>
              <a:srgbClr val="A8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846320" cy="347472"/>
          </a:xfrm>
          <a:prstGeom prst="rect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Fitting a slope to noise (R²=0.038) adds error, not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9397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Live b shifted 2x from history: b ≈ 2.73 vs historical ≈ 1.34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96896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Old exploration at price 3 earned only 186/day vs ~530 near optimum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291840"/>
            <a:ext cx="484632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291840"/>
            <a:ext cx="484632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10128"/>
            <a:ext cx="4663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12463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Strong zero-slope prior: P = diag([1000, 0.01]) — slope can update but stays near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87952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Full 2-D RLS; slope won't move unless live data strongly demands it (MK6 robust)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Optimal price: u_L* = (105 + 3b) / 10, adapts every day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38927"/>
            <a:ext cx="4572000" cy="521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2C353F"/>
                </a:solidFill>
              </a:rPr>
              <a:t>Exploration [10,11,13] near live optimum: earns ~530/day while informing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486400"/>
            <a:ext cx="4846320" cy="1261872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0">
                <a:solidFill>
                  <a:srgbClr val="D6E4F3"/>
                </a:solidFill>
              </a:rPr>
              <a:t>Final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70448"/>
            <a:ext cx="45720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16,008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82512"/>
            <a:ext cx="45720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 i="1">
                <a:solidFill>
                  <a:srgbClr val="D6E4F3"/>
                </a:solidFill>
              </a:rPr>
              <a:t>+516 vs EWLS, above theoretical max</a:t>
            </a:r>
          </a:p>
        </p:txBody>
      </p:sp>
      <p:pic>
        <p:nvPicPr>
          <p:cNvPr id="24" name="Picture 23" descr="mk3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70432"/>
            <a:ext cx="6720840" cy="2406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5650992"/>
            <a:ext cx="672084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</a:rPr>
              <a:t>Left: slope fit vs constant model on MK3 scatter. Right: profit curves, constant model with live b=2.73 gives true optimal at u_L* approx 11.3.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Journey: Iterative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Every change was motivated by data analysis and diagnosed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228600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188720"/>
            <a:ext cx="21945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170432"/>
            <a:ext cx="347472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1188720"/>
            <a:ext cx="338327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70432"/>
            <a:ext cx="137160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188720"/>
            <a:ext cx="12801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MK1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170432"/>
            <a:ext cx="137160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188720"/>
            <a:ext cx="12801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MK2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170432"/>
            <a:ext cx="141732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72" y="1188720"/>
            <a:ext cx="13258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MK3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1170432"/>
            <a:ext cx="1508760" cy="38404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1188720"/>
            <a:ext cx="141731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554480"/>
            <a:ext cx="22860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664207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Baseline (EWLS)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1554480"/>
            <a:ext cx="34747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1664207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Original implementation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554480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1664207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28,152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554480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664207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29,166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1554480"/>
            <a:ext cx="14173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1664207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15,492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1554480"/>
            <a:ext cx="150876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1664207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72,810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514600"/>
            <a:ext cx="228600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624328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RLS Phase 1 (Lecture 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2514600"/>
            <a:ext cx="347472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2624328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EWLS replaced with RLS + forgetting factor lambda. MK1: [5,15,20], MK2: [2,6,12,20,32]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514600"/>
            <a:ext cx="137160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262432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26,298*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514600"/>
            <a:ext cx="137160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262432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29,793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514600"/>
            <a:ext cx="141732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2624328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15,516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2514600"/>
            <a:ext cx="1508760" cy="960120"/>
          </a:xfrm>
          <a:prstGeom prst="rect">
            <a:avLst/>
          </a:prstGeom>
          <a:solidFill>
            <a:srgbClr val="FDF5E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624328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71,607*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474720"/>
            <a:ext cx="22860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584448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MK1 exploration fix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3474720"/>
            <a:ext cx="34747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3584448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7-day exploration caused demand collapse at price 38. Reduced to 2 days [5, 20]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474720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358444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28,367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3474720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58444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29,793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3474720"/>
            <a:ext cx="14173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3584448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15,516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3474720"/>
            <a:ext cx="150876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0" y="3584448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73,676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434840"/>
            <a:ext cx="22860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544568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MK3 exploration prices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4600" y="4434840"/>
            <a:ext cx="34747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40" y="4544568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Changed [3,6,10] to [10,11,13]. Explore near live optimum (u_L* approx 11.3)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4434840"/>
            <a:ext cx="13716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59" y="454456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28,367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4434840"/>
            <a:ext cx="13716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454456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29,793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4434840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23960" y="4544568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15,990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4434840"/>
            <a:ext cx="15087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41280" y="4544568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74,150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394959"/>
            <a:ext cx="22860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5504688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MK2 exploration reduced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14600" y="5394959"/>
            <a:ext cx="34747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40" y="5504688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5 days reduced to 2 days [12,20]. OLS warm-start gives confident prior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5394959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59" y="550468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28,367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60920" y="5394959"/>
            <a:ext cx="137160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52360" y="5504688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31,714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32520" y="5394959"/>
            <a:ext cx="141732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23960" y="5504688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16,008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9840" y="5394959"/>
            <a:ext cx="1508760" cy="960120"/>
          </a:xfrm>
          <a:prstGeom prst="rect">
            <a:avLst/>
          </a:prstGeom>
          <a:solidFill>
            <a:srgbClr val="F4F6F9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41280" y="5504688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2C353F"/>
                </a:solidFill>
              </a:rPr>
              <a:t>76,090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6355079"/>
            <a:ext cx="22860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6464807"/>
            <a:ext cx="21488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MK1 single-explore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14600" y="6355079"/>
            <a:ext cx="34747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40" y="6464807"/>
            <a:ext cx="33375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2C353F"/>
                </a:solidFill>
              </a:rPr>
              <a:t>Explore [5,20] → [19]. Near-optimal explore earns ~975/day vs 371/day at u_L=5; max_price capped at 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89320" y="6355079"/>
            <a:ext cx="13716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80759" y="6464807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1A7A4A"/>
                </a:solidFill>
              </a:rPr>
              <a:t>28,570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60920" y="6355079"/>
            <a:ext cx="137160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52360" y="6464807"/>
            <a:ext cx="123444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1A7A4A"/>
                </a:solidFill>
              </a:rPr>
              <a:t>31,714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32520" y="6355079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23960" y="6464807"/>
            <a:ext cx="128016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1A7A4A"/>
                </a:solidFill>
              </a:rPr>
              <a:t>16,008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9840" y="6355079"/>
            <a:ext cx="15087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0" y="6464807"/>
            <a:ext cx="1371600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 i="0">
                <a:solidFill>
                  <a:srgbClr val="1A7A4A"/>
                </a:solidFill>
              </a:rPr>
              <a:t>76,292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7370063"/>
            <a:ext cx="11887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1">
                <a:solidFill>
                  <a:srgbClr val="8A97A8"/>
                </a:solidFill>
              </a:rPr>
              <a:t>* MK1 Phase 1 was worse due to 7-day exploration at extreme prices (including 38) causing demand collapse.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4300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4300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 i="1">
                <a:solidFill>
                  <a:srgbClr val="D6E4F3"/>
                </a:solidFill>
              </a:rPr>
              <a:t>Accumulated profit over 30 live days (101–130)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3657600" cy="3200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2918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MK1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10512"/>
            <a:ext cx="3657600" cy="2743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 i="0">
                <a:solidFill>
                  <a:srgbClr val="8A97A8"/>
                </a:solidFill>
              </a:rPr>
              <a:t>28,152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28,570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3291840" cy="4572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+418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170432"/>
            <a:ext cx="3657600" cy="3200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261872"/>
            <a:ext cx="32918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MK2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810512"/>
            <a:ext cx="3657600" cy="2743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 i="0">
                <a:solidFill>
                  <a:srgbClr val="8A97A8"/>
                </a:solidFill>
              </a:rPr>
              <a:t>29,166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31,714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2788920"/>
            <a:ext cx="3291840" cy="4572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834640"/>
            <a:ext cx="32918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+2,548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170432"/>
            <a:ext cx="3657600" cy="3200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1261872"/>
            <a:ext cx="32918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MK3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1810512"/>
            <a:ext cx="3657600" cy="27432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Before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1920240"/>
            <a:ext cx="14630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D6E4F3"/>
                </a:solidFill>
              </a:rP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 i="0">
                <a:solidFill>
                  <a:srgbClr val="8A97A8"/>
                </a:solidFill>
              </a:rPr>
              <a:t>15,492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6416" y="2240280"/>
            <a:ext cx="1463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16,008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7615" y="2788920"/>
            <a:ext cx="3291840" cy="4572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2834640"/>
            <a:ext cx="32918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+516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11640312" cy="118872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572000"/>
            <a:ext cx="109728" cy="11887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81728"/>
            <a:ext cx="22860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 i="0">
                <a:solidFill>
                  <a:srgbClr val="D6E4F3"/>
                </a:solidFill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663440"/>
            <a:ext cx="59436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72,810   →   76,292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663440"/>
            <a:ext cx="30175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800" b="1" i="0">
                <a:solidFill>
                  <a:srgbClr val="D6E4F3"/>
                </a:solidFill>
              </a:rPr>
              <a:t>+3,482  profit  (+4.8%)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230368"/>
            <a:ext cx="11430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 i="1">
                <a:solidFill>
                  <a:srgbClr val="8A97A8"/>
                </a:solidFill>
              </a:rPr>
              <a:t>MK3 (16,008) exceeded the static theoretical maximum (~15,970): scalar RLS tracks real-time fluctuations in b that a static model cannot.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Robustness &amp; Key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1">
                <a:solidFill>
                  <a:srgbClr val="D6E4F3"/>
                </a:solidFill>
              </a:rPr>
              <a:t>Design choices that generalise to MK4/5/6 — and what the project taught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5760720" cy="5440680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5760720" cy="402336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MK4/5/6 Work Out of the 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82496"/>
            <a:ext cx="54864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257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λ = 0.88 / 0.92 / 0.95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52578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</a:rPr>
              <a:t>Old history contributes λ^10 = 28/43/60% weight after 10 live steps. Shifted parameters are forgotten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9504"/>
            <a:ext cx="54864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5257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trace(P) &gt; threshold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52578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</a:rPr>
              <a:t>Exploration fires automatically for any uncertain follower — no need to hard-code exploration schedules for MK4/5/6.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2"/>
            <a:ext cx="54864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5257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Residual clip ±3 / ±5 / ±10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17136"/>
            <a:ext cx="52578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</a:rPr>
              <a:t>A single spike moves θ by at most clip/‖K‖ regardless of magnitude. Protects against outliers in hidden followers.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5486400" cy="115214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4"/>
            <a:ext cx="5257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 i="0">
                <a:solidFill>
                  <a:srgbClr val="D6E4F3"/>
                </a:solidFill>
              </a:rPr>
              <a:t>No hardcoded follower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24144"/>
            <a:ext cx="52578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</a:rPr>
              <a:t>All parameters learned from data. Algorithm generalises by construction — 'slightly changed parameters' are learned within the first 5–10 live steps.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70432"/>
            <a:ext cx="5806440" cy="5440680"/>
          </a:xfrm>
          <a:prstGeom prst="rect">
            <a:avLst/>
          </a:prstGeom>
          <a:solidFill>
            <a:srgbClr val="F4F6F9"/>
          </a:solidFill>
          <a:ln w="1016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170432"/>
            <a:ext cx="5806440" cy="402336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188720"/>
            <a:ext cx="55321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Lessons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82496"/>
            <a:ext cx="502920" cy="157276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212848"/>
            <a:ext cx="502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 i="0">
                <a:solidFill>
                  <a:srgbClr val="D6E4F3"/>
                </a:solidFill>
              </a:rPr>
              <a:t>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82496"/>
            <a:ext cx="5166360" cy="1572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92224"/>
            <a:ext cx="493776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1C2D4A"/>
                </a:solidFill>
              </a:rPr>
              <a:t>Data quality &gt; quantity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94560"/>
            <a:ext cx="49377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100 days in a 0.185-unit band misled us. One strategic live price fixed it. Quality of coverage matters more than volume.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64992"/>
            <a:ext cx="502920" cy="157276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895344"/>
            <a:ext cx="502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 i="0">
                <a:solidFill>
                  <a:srgbClr val="D6E4F3"/>
                </a:solidFill>
              </a:rPr>
              <a:t>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364992"/>
            <a:ext cx="5166360" cy="1572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474720"/>
            <a:ext cx="493776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1C2D4A"/>
                </a:solidFill>
              </a:rPr>
              <a:t>Explore near the optimum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877056"/>
            <a:ext cx="49377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u_L = 5 costs 371/day; u_L = 19 costs 975/day and teaches the same slope. Information gain does not require sacrificing profit.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047488"/>
            <a:ext cx="502920" cy="1572768"/>
          </a:xfrm>
          <a:prstGeom prst="rect">
            <a:avLst/>
          </a:prstGeom>
          <a:solidFill>
            <a:srgbClr val="1C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577840"/>
            <a:ext cx="502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 i="0">
                <a:solidFill>
                  <a:srgbClr val="D6E4F3"/>
                </a:solidFill>
              </a:rP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5047488"/>
            <a:ext cx="5166360" cy="1572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5157216"/>
            <a:ext cx="493776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1C2D4A"/>
                </a:solidFill>
              </a:rPr>
              <a:t>Model complexity must match the 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59552"/>
            <a:ext cx="49377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2C353F"/>
                </a:solidFill>
              </a:rPr>
              <a:t>Fitting slope to MK3 (R² = 0.038) adds noise, not information. The constant model achieves above-theoretical-maximum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